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  <p:sldMasterId id="2147483652" r:id="rId2"/>
    <p:sldMasterId id="2147483653" r:id="rId3"/>
    <p:sldMasterId id="2147483654" r:id="rId4"/>
  </p:sldMasterIdLst>
  <p:notesMasterIdLst>
    <p:notesMasterId r:id="rId20"/>
  </p:notesMasterIdLst>
  <p:handoutMasterIdLst>
    <p:handoutMasterId r:id="rId21"/>
  </p:handoutMasterIdLst>
  <p:sldIdLst>
    <p:sldId id="485" r:id="rId5"/>
    <p:sldId id="568" r:id="rId6"/>
    <p:sldId id="569" r:id="rId7"/>
    <p:sldId id="570" r:id="rId8"/>
    <p:sldId id="571" r:id="rId9"/>
    <p:sldId id="572" r:id="rId10"/>
    <p:sldId id="573" r:id="rId11"/>
    <p:sldId id="574" r:id="rId12"/>
    <p:sldId id="580" r:id="rId13"/>
    <p:sldId id="575" r:id="rId14"/>
    <p:sldId id="576" r:id="rId15"/>
    <p:sldId id="577" r:id="rId16"/>
    <p:sldId id="578" r:id="rId17"/>
    <p:sldId id="579" r:id="rId18"/>
    <p:sldId id="539" r:id="rId19"/>
  </p:sldIdLst>
  <p:sldSz cx="12192000" cy="6858000"/>
  <p:notesSz cx="6731000" cy="9856788"/>
  <p:defaultTextStyle>
    <a:defPPr>
      <a:defRPr lang="en-US"/>
    </a:defPPr>
    <a:lvl1pPr algn="ctr" defTabSz="449263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defTabSz="449263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defTabSz="449263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defTabSz="449263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defTabSz="449263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DA9EF22-5CB2-47F6-86F6-A43377BCDA16}">
          <p14:sldIdLst>
            <p14:sldId id="485"/>
            <p14:sldId id="568"/>
            <p14:sldId id="569"/>
            <p14:sldId id="570"/>
            <p14:sldId id="571"/>
            <p14:sldId id="572"/>
            <p14:sldId id="573"/>
            <p14:sldId id="574"/>
            <p14:sldId id="580"/>
            <p14:sldId id="575"/>
            <p14:sldId id="576"/>
            <p14:sldId id="577"/>
            <p14:sldId id="578"/>
            <p14:sldId id="579"/>
            <p14:sldId id="539"/>
          </p14:sldIdLst>
        </p14:section>
        <p14:section name="Sources" id="{67B5223C-3459-4F25-88C2-A5C42B0E7EA2}">
          <p14:sldIdLst/>
        </p14:section>
        <p14:section name="Backup" id="{B43A52FF-EB62-4569-BA47-497BCA83B13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777777"/>
    <a:srgbClr val="C0C4C1"/>
    <a:srgbClr val="487849"/>
    <a:srgbClr val="DF5F51"/>
    <a:srgbClr val="FF7D7D"/>
    <a:srgbClr val="00B050"/>
    <a:srgbClr val="F2F2F2"/>
    <a:srgbClr val="75A9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5" autoAdjust="0"/>
    <p:restoredTop sz="86893" autoAdjust="0"/>
  </p:normalViewPr>
  <p:slideViewPr>
    <p:cSldViewPr>
      <p:cViewPr>
        <p:scale>
          <a:sx n="62" d="100"/>
          <a:sy n="62" d="100"/>
        </p:scale>
        <p:origin x="320" y="1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403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524301A-1913-6245-BEF1-95BEE224E0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39" tIns="45121" rIns="90239" bIns="45121" numCol="1" anchor="t" anchorCtr="0" compatLnSpc="1">
            <a:prstTxWarp prst="textNoShape">
              <a:avLst/>
            </a:prstTxWarp>
          </a:bodyPr>
          <a:lstStyle>
            <a:lvl1pPr algn="l" defTabSz="442913">
              <a:defRPr sz="1100">
                <a:solidFill>
                  <a:srgbClr val="000000"/>
                </a:solidFill>
              </a:defRPr>
            </a:lvl1pPr>
          </a:lstStyle>
          <a:p>
            <a:endParaRPr lang="en-US" altLang="de-DE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BF6F463-E052-0D4D-9970-EB8A633AC8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39" tIns="45121" rIns="90239" bIns="45121" numCol="1" anchor="t" anchorCtr="0" compatLnSpc="1">
            <a:prstTxWarp prst="textNoShape">
              <a:avLst/>
            </a:prstTxWarp>
          </a:bodyPr>
          <a:lstStyle>
            <a:lvl1pPr algn="r" defTabSz="442913">
              <a:defRPr sz="1100">
                <a:solidFill>
                  <a:srgbClr val="000000"/>
                </a:solidFill>
              </a:defRPr>
            </a:lvl1pPr>
          </a:lstStyle>
          <a:p>
            <a:endParaRPr lang="en-US" altLang="de-DE"/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68F3164B-4B06-674D-8E93-04461E96E9F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3075"/>
            <a:ext cx="2916238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39" tIns="45121" rIns="90239" bIns="45121" numCol="1" anchor="b" anchorCtr="0" compatLnSpc="1">
            <a:prstTxWarp prst="textNoShape">
              <a:avLst/>
            </a:prstTxWarp>
          </a:bodyPr>
          <a:lstStyle>
            <a:lvl1pPr algn="l" defTabSz="442913">
              <a:defRPr sz="1100">
                <a:solidFill>
                  <a:srgbClr val="000000"/>
                </a:solidFill>
              </a:defRPr>
            </a:lvl1pPr>
          </a:lstStyle>
          <a:p>
            <a:endParaRPr lang="en-US" altLang="de-DE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BC756925-3ADB-0541-AB3D-19559549B6D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3075"/>
            <a:ext cx="2916238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39" tIns="45121" rIns="90239" bIns="45121" numCol="1" anchor="b" anchorCtr="0" compatLnSpc="1">
            <a:prstTxWarp prst="textNoShape">
              <a:avLst/>
            </a:prstTxWarp>
          </a:bodyPr>
          <a:lstStyle>
            <a:lvl1pPr algn="r" defTabSz="442913">
              <a:defRPr sz="1100">
                <a:solidFill>
                  <a:srgbClr val="000000"/>
                </a:solidFill>
              </a:defRPr>
            </a:lvl1pPr>
          </a:lstStyle>
          <a:p>
            <a:fld id="{9356EA64-995A-DB42-8AC7-A6FDB2C3E12A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>
            <a:extLst>
              <a:ext uri="{FF2B5EF4-FFF2-40B4-BE49-F238E27FC236}">
                <a16:creationId xmlns:a16="http://schemas.microsoft.com/office/drawing/2014/main" id="{758DFF4D-DA27-C549-A009-8A960A246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731000" cy="9856788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9C7B340-1C25-1746-880B-F35F947FA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388938"/>
            <a:ext cx="9175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5" name="Rectangle 3">
            <a:extLst>
              <a:ext uri="{FF2B5EF4-FFF2-40B4-BE49-F238E27FC236}">
                <a16:creationId xmlns:a16="http://schemas.microsoft.com/office/drawing/2014/main" id="{B0F25AF2-33EE-2846-A2C7-67B730000AEB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185738" y="9361488"/>
            <a:ext cx="15875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57" tIns="47252" rIns="94857" bIns="47252" numCol="1" anchor="ctr" anchorCtr="0" compatLnSpc="1">
            <a:prstTxWarp prst="textNoShape">
              <a:avLst/>
            </a:prstTxWarp>
          </a:bodyPr>
          <a:lstStyle>
            <a:lvl1pPr algn="l" defTabSz="442913">
              <a:lnSpc>
                <a:spcPts val="1325"/>
              </a:lnSpc>
              <a:buFont typeface="Stafford" charset="0"/>
              <a:buNone/>
              <a:tabLst>
                <a:tab pos="714375" algn="l"/>
                <a:tab pos="1428750" algn="l"/>
              </a:tabLst>
              <a:defRPr sz="1100">
                <a:solidFill>
                  <a:srgbClr val="000000"/>
                </a:solidFill>
                <a:latin typeface="Stafford" charset="0"/>
              </a:defRPr>
            </a:lvl1pPr>
          </a:lstStyle>
          <a:p>
            <a:r>
              <a:rPr lang="en-US" altLang="de-DE"/>
              <a:t>November 19, 2007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62BE723-BB18-8A49-9351-7F4D611088B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17513" y="996950"/>
            <a:ext cx="5878512" cy="330676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B40FC04-B330-B147-A1D5-72267A661467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87325" y="4618038"/>
            <a:ext cx="6354763" cy="461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57" tIns="47252" rIns="94857" bIns="47252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 altLang="de-DE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A964B3D-3EBD-1D48-8E70-853B195B54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1774825" y="9361488"/>
            <a:ext cx="4027488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57" tIns="47252" rIns="94857" bIns="47252" numCol="1" anchor="ctr" anchorCtr="0" compatLnSpc="1">
            <a:prstTxWarp prst="textNoShape">
              <a:avLst/>
            </a:prstTxWarp>
          </a:bodyPr>
          <a:lstStyle>
            <a:lvl1pPr algn="l" defTabSz="442913">
              <a:lnSpc>
                <a:spcPts val="1325"/>
              </a:lnSpc>
              <a:buFont typeface="Stafford" charset="0"/>
              <a:buNone/>
              <a:tabLst>
                <a:tab pos="714375" algn="l"/>
                <a:tab pos="1428750" algn="l"/>
                <a:tab pos="2141538" algn="l"/>
                <a:tab pos="2857500" algn="l"/>
                <a:tab pos="3571875" algn="l"/>
              </a:tabLst>
              <a:defRPr sz="1100">
                <a:solidFill>
                  <a:srgbClr val="000000"/>
                </a:solidFill>
                <a:latin typeface="Stafford" charset="0"/>
              </a:defRPr>
            </a:lvl1pPr>
          </a:lstStyle>
          <a:p>
            <a:r>
              <a:rPr lang="en-US" altLang="de-DE"/>
              <a:t>|  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9471C05-9AA4-394A-80A8-7B4CDDEF35F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5803900" y="9361488"/>
            <a:ext cx="923925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57" tIns="47252" rIns="94857" bIns="47252" numCol="1" anchor="ctr" anchorCtr="0" compatLnSpc="1">
            <a:prstTxWarp prst="textNoShape">
              <a:avLst/>
            </a:prstTxWarp>
          </a:bodyPr>
          <a:lstStyle>
            <a:lvl1pPr algn="r" defTabSz="442913">
              <a:lnSpc>
                <a:spcPts val="1325"/>
              </a:lnSpc>
              <a:buFont typeface="Stafford" charset="0"/>
              <a:buNone/>
              <a:tabLst>
                <a:tab pos="714375" algn="l"/>
              </a:tabLst>
              <a:defRPr sz="1100">
                <a:solidFill>
                  <a:srgbClr val="000000"/>
                </a:solidFill>
                <a:latin typeface="Stafford" charset="0"/>
              </a:defRPr>
            </a:lvl1pPr>
          </a:lstStyle>
          <a:p>
            <a:r>
              <a:rPr lang="en-US" altLang="de-DE"/>
              <a:t>|  </a:t>
            </a:r>
            <a:fld id="{12026B5C-3D42-8847-96F3-90997525BB74}" type="slidenum">
              <a:rPr lang="en-US" altLang="de-DE"/>
              <a:pPr/>
              <a:t>‹#›</a:t>
            </a:fld>
            <a:endParaRPr lang="en-US" altLang="de-DE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10EBD110-FD20-DB41-A3E3-D96DBF77E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417513"/>
            <a:ext cx="53038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1912" tIns="0" rIns="0" bIns="0" anchor="ctr"/>
          <a:lstStyle>
            <a:lvl1pPr algn="l" defTabSz="442913">
              <a:tabLst>
                <a:tab pos="0" algn="l"/>
                <a:tab pos="901700" algn="l"/>
                <a:tab pos="1804988" algn="l"/>
                <a:tab pos="2705100" algn="l"/>
                <a:tab pos="3609975" algn="l"/>
                <a:tab pos="4511675" algn="l"/>
                <a:tab pos="5414963" algn="l"/>
                <a:tab pos="6318250" algn="l"/>
                <a:tab pos="7218363" algn="l"/>
                <a:tab pos="8121650" algn="l"/>
                <a:tab pos="9023350" algn="l"/>
                <a:tab pos="992663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450850" algn="l" defTabSz="442913">
              <a:tabLst>
                <a:tab pos="0" algn="l"/>
                <a:tab pos="901700" algn="l"/>
                <a:tab pos="1804988" algn="l"/>
                <a:tab pos="2705100" algn="l"/>
                <a:tab pos="3609975" algn="l"/>
                <a:tab pos="4511675" algn="l"/>
                <a:tab pos="5414963" algn="l"/>
                <a:tab pos="6318250" algn="l"/>
                <a:tab pos="7218363" algn="l"/>
                <a:tab pos="8121650" algn="l"/>
                <a:tab pos="9023350" algn="l"/>
                <a:tab pos="992663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901700" algn="l" defTabSz="442913">
              <a:tabLst>
                <a:tab pos="0" algn="l"/>
                <a:tab pos="901700" algn="l"/>
                <a:tab pos="1804988" algn="l"/>
                <a:tab pos="2705100" algn="l"/>
                <a:tab pos="3609975" algn="l"/>
                <a:tab pos="4511675" algn="l"/>
                <a:tab pos="5414963" algn="l"/>
                <a:tab pos="6318250" algn="l"/>
                <a:tab pos="7218363" algn="l"/>
                <a:tab pos="8121650" algn="l"/>
                <a:tab pos="9023350" algn="l"/>
                <a:tab pos="992663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354138" algn="l" defTabSz="442913">
              <a:tabLst>
                <a:tab pos="0" algn="l"/>
                <a:tab pos="901700" algn="l"/>
                <a:tab pos="1804988" algn="l"/>
                <a:tab pos="2705100" algn="l"/>
                <a:tab pos="3609975" algn="l"/>
                <a:tab pos="4511675" algn="l"/>
                <a:tab pos="5414963" algn="l"/>
                <a:tab pos="6318250" algn="l"/>
                <a:tab pos="7218363" algn="l"/>
                <a:tab pos="8121650" algn="l"/>
                <a:tab pos="9023350" algn="l"/>
                <a:tab pos="992663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1804988" algn="l" defTabSz="442913">
              <a:tabLst>
                <a:tab pos="0" algn="l"/>
                <a:tab pos="901700" algn="l"/>
                <a:tab pos="1804988" algn="l"/>
                <a:tab pos="2705100" algn="l"/>
                <a:tab pos="3609975" algn="l"/>
                <a:tab pos="4511675" algn="l"/>
                <a:tab pos="5414963" algn="l"/>
                <a:tab pos="6318250" algn="l"/>
                <a:tab pos="7218363" algn="l"/>
                <a:tab pos="8121650" algn="l"/>
                <a:tab pos="9023350" algn="l"/>
                <a:tab pos="992663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262188" defTabSz="442913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01700" algn="l"/>
                <a:tab pos="1804988" algn="l"/>
                <a:tab pos="2705100" algn="l"/>
                <a:tab pos="3609975" algn="l"/>
                <a:tab pos="4511675" algn="l"/>
                <a:tab pos="5414963" algn="l"/>
                <a:tab pos="6318250" algn="l"/>
                <a:tab pos="7218363" algn="l"/>
                <a:tab pos="8121650" algn="l"/>
                <a:tab pos="9023350" algn="l"/>
                <a:tab pos="992663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719388" defTabSz="442913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01700" algn="l"/>
                <a:tab pos="1804988" algn="l"/>
                <a:tab pos="2705100" algn="l"/>
                <a:tab pos="3609975" algn="l"/>
                <a:tab pos="4511675" algn="l"/>
                <a:tab pos="5414963" algn="l"/>
                <a:tab pos="6318250" algn="l"/>
                <a:tab pos="7218363" algn="l"/>
                <a:tab pos="8121650" algn="l"/>
                <a:tab pos="9023350" algn="l"/>
                <a:tab pos="992663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176588" defTabSz="442913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01700" algn="l"/>
                <a:tab pos="1804988" algn="l"/>
                <a:tab pos="2705100" algn="l"/>
                <a:tab pos="3609975" algn="l"/>
                <a:tab pos="4511675" algn="l"/>
                <a:tab pos="5414963" algn="l"/>
                <a:tab pos="6318250" algn="l"/>
                <a:tab pos="7218363" algn="l"/>
                <a:tab pos="8121650" algn="l"/>
                <a:tab pos="9023350" algn="l"/>
                <a:tab pos="992663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633788" defTabSz="442913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901700" algn="l"/>
                <a:tab pos="1804988" algn="l"/>
                <a:tab pos="2705100" algn="l"/>
                <a:tab pos="3609975" algn="l"/>
                <a:tab pos="4511675" algn="l"/>
                <a:tab pos="5414963" algn="l"/>
                <a:tab pos="6318250" algn="l"/>
                <a:tab pos="7218363" algn="l"/>
                <a:tab pos="8121650" algn="l"/>
                <a:tab pos="9023350" algn="l"/>
                <a:tab pos="9926638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325"/>
              </a:lnSpc>
              <a:buFont typeface="Stafford" charset="0"/>
              <a:buNone/>
            </a:pPr>
            <a:endParaRPr lang="en-US" altLang="de-DE" sz="1100" b="1">
              <a:latin typeface="Stafford" charset="0"/>
            </a:endParaRP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1F05141D-9054-5E40-A428-C2FDACE3D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193675"/>
            <a:ext cx="6357938" cy="155575"/>
          </a:xfrm>
          <a:prstGeom prst="rect">
            <a:avLst/>
          </a:prstGeom>
          <a:solidFill>
            <a:srgbClr val="B5B5B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2" name="Line 10">
            <a:extLst>
              <a:ext uri="{FF2B5EF4-FFF2-40B4-BE49-F238E27FC236}">
                <a16:creationId xmlns:a16="http://schemas.microsoft.com/office/drawing/2014/main" id="{AE151DA6-C55D-F34C-A497-69B64F1DC3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325" y="388938"/>
            <a:ext cx="6357938" cy="1587"/>
          </a:xfrm>
          <a:prstGeom prst="line">
            <a:avLst/>
          </a:prstGeom>
          <a:noFill/>
          <a:ln w="1512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3" name="Line 11">
            <a:extLst>
              <a:ext uri="{FF2B5EF4-FFF2-40B4-BE49-F238E27FC236}">
                <a16:creationId xmlns:a16="http://schemas.microsoft.com/office/drawing/2014/main" id="{E7CFF9EE-2899-894F-9CAC-FE761F588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325" y="844550"/>
            <a:ext cx="6357938" cy="1588"/>
          </a:xfrm>
          <a:prstGeom prst="line">
            <a:avLst/>
          </a:prstGeom>
          <a:noFill/>
          <a:ln w="75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4" name="Line 12">
            <a:extLst>
              <a:ext uri="{FF2B5EF4-FFF2-40B4-BE49-F238E27FC236}">
                <a16:creationId xmlns:a16="http://schemas.microsoft.com/office/drawing/2014/main" id="{6BA5250F-38D4-B047-A288-936732B59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325" y="9361488"/>
            <a:ext cx="6357938" cy="1587"/>
          </a:xfrm>
          <a:prstGeom prst="line">
            <a:avLst/>
          </a:prstGeom>
          <a:noFill/>
          <a:ln w="75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85" name="Line 13">
            <a:extLst>
              <a:ext uri="{FF2B5EF4-FFF2-40B4-BE49-F238E27FC236}">
                <a16:creationId xmlns:a16="http://schemas.microsoft.com/office/drawing/2014/main" id="{C89E7DAB-D5D6-5047-9053-BCEC9EB26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738" y="4421188"/>
            <a:ext cx="6357937" cy="1587"/>
          </a:xfrm>
          <a:prstGeom prst="line">
            <a:avLst/>
          </a:prstGeom>
          <a:noFill/>
          <a:ln w="75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17513" y="996950"/>
            <a:ext cx="5878512" cy="330676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November 19, 2007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|  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|  </a:t>
            </a:r>
            <a:fld id="{92C156F3-6C7D-4C62-B24F-CEC351458306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282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FBE61-551B-2598-6B52-0C358B91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DEF2B43-23A5-A461-EC66-37E5BCD92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4DFD0A7-A306-30FE-CA7C-310F454E4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4C9FA4-FF30-0087-B1DB-47AB7E62D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5577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altLang="de-DE"/>
              <a:t>November 19, 2007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altLang="de-DE"/>
              <a:t>|  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altLang="de-DE"/>
              <a:t>|  </a:t>
            </a:r>
            <a:fld id="{12026B5C-3D42-8847-96F3-90997525BB74}" type="slidenum">
              <a:rPr lang="en-US" altLang="de-DE" smtClean="0"/>
              <a:pPr/>
              <a:t>15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657991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F80E8E76-8E63-584C-B06F-93D3C872E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368300"/>
            <a:ext cx="11523133" cy="2089150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de-DE" altLang="de-DE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DF74774F-E82C-8A43-B254-2AD8483560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78367" y="374650"/>
            <a:ext cx="8978900" cy="895350"/>
          </a:xfrm>
        </p:spPr>
        <p:txBody>
          <a:bodyPr anchor="b" anchorCtr="1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altLang="de-DE" noProof="0"/>
              <a:t>Mastertitelformat bearbeiten</a:t>
            </a:r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3B514E8A-60C5-F64D-8070-DA8E93BE203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78367" y="1449388"/>
            <a:ext cx="8978900" cy="944562"/>
          </a:xfrm>
        </p:spPr>
        <p:txBody>
          <a:bodyPr lIns="0" tIns="0" rIns="0" bIns="0"/>
          <a:lstStyle>
            <a:lvl1pPr marL="0" indent="0" algn="ctr">
              <a:spcBef>
                <a:spcPct val="0"/>
              </a:spcBef>
              <a:defRPr b="0">
                <a:solidFill>
                  <a:schemeClr val="bg1"/>
                </a:solidFill>
              </a:defRPr>
            </a:lvl1pPr>
          </a:lstStyle>
          <a:p>
            <a:pPr lvl="0"/>
            <a:endParaRPr lang="de-DE" altLang="de-DE" noProof="0"/>
          </a:p>
        </p:txBody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A43A3F38-01AA-7B43-9F56-001CC6B5D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196851"/>
            <a:ext cx="11523133" cy="144463"/>
          </a:xfrm>
          <a:prstGeom prst="rect">
            <a:avLst/>
          </a:prstGeom>
          <a:solidFill>
            <a:srgbClr val="005AA9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B5B5B5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88072" name="Rectangle 8">
            <a:extLst>
              <a:ext uri="{FF2B5EF4-FFF2-40B4-BE49-F238E27FC236}">
                <a16:creationId xmlns:a16="http://schemas.microsoft.com/office/drawing/2014/main" id="{991B3CA2-BDCC-974F-9E86-A0C64C659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360364"/>
            <a:ext cx="11521017" cy="1428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88073" name="Rectangle 9">
            <a:extLst>
              <a:ext uri="{FF2B5EF4-FFF2-40B4-BE49-F238E27FC236}">
                <a16:creationId xmlns:a16="http://schemas.microsoft.com/office/drawing/2014/main" id="{09AB5C70-6B2B-914F-A824-926F0822C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2457450"/>
            <a:ext cx="11521017" cy="793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88074" name="Text Box 10">
            <a:extLst>
              <a:ext uri="{FF2B5EF4-FFF2-40B4-BE49-F238E27FC236}">
                <a16:creationId xmlns:a16="http://schemas.microsoft.com/office/drawing/2014/main" id="{2C7593B7-5C2D-6243-B880-65B284E0F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8208" y="5460724"/>
            <a:ext cx="3888432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pPr algn="r" eaLnBrk="0" hangingPunct="0">
              <a:lnSpc>
                <a:spcPct val="100000"/>
              </a:lnSpc>
              <a:spcAft>
                <a:spcPct val="10000"/>
              </a:spcAft>
              <a:buClr>
                <a:schemeClr val="tx1"/>
              </a:buClr>
              <a:buFontTx/>
              <a:buNone/>
            </a:pPr>
            <a:r>
              <a:rPr lang="en-US" altLang="de-DE" sz="1000" dirty="0"/>
              <a:t>Communication Networks Lab (KOM)</a:t>
            </a:r>
            <a:br>
              <a:rPr lang="en-US" altLang="de-DE" sz="1000" dirty="0"/>
            </a:br>
            <a:r>
              <a:rPr lang="en-US" altLang="de-DE" sz="1000" dirty="0"/>
              <a:t>Technical</a:t>
            </a:r>
            <a:r>
              <a:rPr lang="en-US" altLang="de-DE" sz="1000" baseline="0" dirty="0"/>
              <a:t> University of Darmstadt</a:t>
            </a:r>
            <a:endParaRPr lang="en-US" altLang="de-DE" sz="1000" dirty="0"/>
          </a:p>
          <a:p>
            <a:pPr algn="r" eaLnBrk="0" hangingPunct="0">
              <a:lnSpc>
                <a:spcPct val="100000"/>
              </a:lnSpc>
              <a:spcAft>
                <a:spcPct val="10000"/>
              </a:spcAft>
              <a:buClr>
                <a:schemeClr val="tx1"/>
              </a:buClr>
              <a:buFontTx/>
              <a:buNone/>
            </a:pPr>
            <a:r>
              <a:rPr lang="en-US" altLang="de-DE" sz="1000" dirty="0"/>
              <a:t>Prof. Dr. Björn Scheuermann (Director)</a:t>
            </a:r>
            <a:br>
              <a:rPr lang="en-US" altLang="de-DE" sz="1000" dirty="0"/>
            </a:br>
            <a:r>
              <a:rPr lang="en-US" altLang="de-DE" sz="1000" dirty="0"/>
              <a:t>Dept. of Electrical Engineering and Information Technology</a:t>
            </a:r>
          </a:p>
          <a:p>
            <a:pPr algn="r" eaLnBrk="0" hangingPunct="0">
              <a:lnSpc>
                <a:spcPct val="100000"/>
              </a:lnSpc>
              <a:spcAft>
                <a:spcPct val="10000"/>
              </a:spcAft>
              <a:buClr>
                <a:schemeClr val="tx1"/>
              </a:buClr>
              <a:buFontTx/>
              <a:buNone/>
            </a:pPr>
            <a:r>
              <a:rPr lang="en-US" altLang="de-DE" sz="1000" dirty="0"/>
              <a:t>Dept. of Computer Science (adjunct Professor)</a:t>
            </a:r>
            <a:br>
              <a:rPr lang="en-US" altLang="de-DE" sz="1000" dirty="0"/>
            </a:br>
            <a:r>
              <a:rPr lang="en-US" altLang="de-DE" sz="1000" dirty="0" err="1"/>
              <a:t>www.kom.tu-darmstadt.de</a:t>
            </a:r>
            <a:r>
              <a:rPr lang="en-US" altLang="de-DE" sz="1000" dirty="0"/>
              <a:t>                            </a:t>
            </a:r>
          </a:p>
        </p:txBody>
      </p:sp>
      <p:sp>
        <p:nvSpPr>
          <p:cNvPr id="88076" name="Line 12">
            <a:extLst>
              <a:ext uri="{FF2B5EF4-FFF2-40B4-BE49-F238E27FC236}">
                <a16:creationId xmlns:a16="http://schemas.microsoft.com/office/drawing/2014/main" id="{944A176F-0B23-2B44-B04F-9A91E6539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1" y="6489700"/>
            <a:ext cx="11521016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88082" name="Rectangle 18">
            <a:extLst>
              <a:ext uri="{FF2B5EF4-FFF2-40B4-BE49-F238E27FC236}">
                <a16:creationId xmlns:a16="http://schemas.microsoft.com/office/drawing/2014/main" id="{1D7D49CB-6BC6-5F40-98AB-3DA59C605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651" y="6524626"/>
            <a:ext cx="2592916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ct val="100000"/>
              </a:lnSpc>
              <a:buClrTx/>
              <a:buSzTx/>
              <a:buFontTx/>
              <a:buNone/>
            </a:pPr>
            <a:fld id="{4E25DD4E-777E-1545-AAFD-45D661ED2BF3}" type="datetime4">
              <a:rPr lang="de-DE" altLang="de-DE" sz="1000"/>
              <a:pPr algn="r">
                <a:lnSpc>
                  <a:spcPct val="100000"/>
                </a:lnSpc>
                <a:buClrTx/>
                <a:buSzTx/>
                <a:buFontTx/>
                <a:buNone/>
              </a:pPr>
              <a:t>8. Juli 2026</a:t>
            </a:fld>
            <a:endParaRPr lang="de-DE" altLang="de-DE" sz="1000" dirty="0"/>
          </a:p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endParaRPr lang="de-DE" altLang="de-DE" sz="1000" dirty="0"/>
          </a:p>
        </p:txBody>
      </p:sp>
      <p:pic>
        <p:nvPicPr>
          <p:cNvPr id="88070" name="Picture 6" descr="tud_logo">
            <a:extLst>
              <a:ext uri="{FF2B5EF4-FFF2-40B4-BE49-F238E27FC236}">
                <a16:creationId xmlns:a16="http://schemas.microsoft.com/office/drawing/2014/main" id="{5AB1E104-4FE4-3344-AE72-9D0CDCA86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3"/>
          <a:stretch>
            <a:fillRect/>
          </a:stretch>
        </p:blipFill>
        <p:spPr bwMode="auto">
          <a:xfrm>
            <a:off x="9912424" y="657226"/>
            <a:ext cx="1943027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1"/>
          <p:cNvSpPr txBox="1">
            <a:spLocks noChangeArrowheads="1"/>
          </p:cNvSpPr>
          <p:nvPr userDrawn="1"/>
        </p:nvSpPr>
        <p:spPr bwMode="auto">
          <a:xfrm>
            <a:off x="263352" y="6618000"/>
            <a:ext cx="10079567" cy="21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sz="800" dirty="0">
                <a:solidFill>
                  <a:schemeClr val="folHlink"/>
                </a:solidFill>
              </a:rPr>
              <a:t>© author(s) of these slides including research results from the KOM research network and TU Darmstadt; otherwise it is specified at the respective slide</a:t>
            </a:r>
          </a:p>
        </p:txBody>
      </p:sp>
      <p:sp>
        <p:nvSpPr>
          <p:cNvPr id="14" name="Text Box 11"/>
          <p:cNvSpPr txBox="1">
            <a:spLocks noChangeArrowheads="1"/>
          </p:cNvSpPr>
          <p:nvPr userDrawn="1"/>
        </p:nvSpPr>
        <p:spPr bwMode="auto">
          <a:xfrm>
            <a:off x="10089761" y="6630457"/>
            <a:ext cx="1863057" cy="2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>
                <a:solidFill>
                  <a:schemeClr val="bg1"/>
                </a:solidFill>
                <a:latin typeface="Arial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sz="800" dirty="0">
                <a:solidFill>
                  <a:schemeClr val="folHlink"/>
                </a:solidFill>
              </a:rPr>
              <a:t>Template</a:t>
            </a:r>
            <a:r>
              <a:rPr lang="en-US" sz="800" baseline="0" dirty="0">
                <a:solidFill>
                  <a:schemeClr val="folHlink"/>
                </a:solidFill>
              </a:rPr>
              <a:t> all v.3.7</a:t>
            </a:r>
            <a:endParaRPr lang="en-US" sz="8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B0FD8-DDFA-D242-B4CD-EB763960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70CE93-924B-9049-872F-3E1AFC24A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4A23DD-3E72-AB48-807B-01A7881EFC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 dirty="0"/>
          </a:p>
          <a:p>
            <a:endParaRPr lang="de-DE" altLang="de-DE" dirty="0"/>
          </a:p>
          <a:p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018058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378559-4CA8-0540-BC8A-40619A0E8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F53842-6AF3-1A42-A1BD-B19C2D1C7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90FF40-98A3-5646-8B99-3F104327C2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6784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C882C4-F312-7641-AA92-AFA493775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28DD29-96FA-9244-B4ED-BFC91AF29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433" y="1484314"/>
            <a:ext cx="5657851" cy="496887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AFCA56D-1A97-8048-9CBB-EF8458491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5485" y="1484314"/>
            <a:ext cx="5659967" cy="496887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A2449C-2B8C-4840-90E4-B7052879F8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80158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5BA4F-8589-1C46-9378-58F74C06E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08D65F-C39B-4E44-BBE6-694961428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F9EA5C-DAAF-1342-A09E-B25850D21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ACC9DC-2906-9647-8902-78F2B308B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7DA5268-45F1-6C4D-97E3-C0C267F0B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70A3064-73B4-9A49-92D1-AA01E5439C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35897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43B01-08A6-3641-BDE7-90E8021E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1D9C57-EC42-A742-B9FC-303DA51DEE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464299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F8FD729-219C-6E41-A17E-395A1F71FB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121915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185D92-2A48-2544-B2CD-A50955CF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354DB5-A0F6-404B-8D51-9D5893CB6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E19DB4-F060-F643-9F27-A78F0E267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288582-4F53-8E46-9E25-24753C5476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49987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EB6588-0ACF-4E4A-BA0E-EF78BCBA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E61230C-86A1-254F-8F22-E0F18567D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E06339-F8CE-7A45-80BD-734A8A28C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DAEBEA-878F-654F-B345-331CF4E79F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95389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FDEDD-ECE6-464B-BD46-671915A8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0003E22-161F-084E-AC95-E0840F19F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E3FD18-7223-0345-8B6C-FF7B958E24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54024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92DFDC8-E282-904F-8766-4E00F7810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76784" y="488950"/>
            <a:ext cx="2878667" cy="59642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14F0D3A-AA2A-4349-836A-369481FA1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4434" y="488950"/>
            <a:ext cx="8439151" cy="59642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0FE39D-49D1-5E46-A463-005009799A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557677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FB907-AA3E-534A-8E04-AA7A363AE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99DA62-2E88-BE44-8162-A467E25DE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F290D1-78DC-514C-B235-3E0672B172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4046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BA0D13-BDB6-6F45-B8FF-16A9A1D6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6A9407-A593-574B-9F40-89FBE9017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B3E4255-18FD-0842-94E2-B2CF8E69F0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33268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AA1FFB-68EA-564E-BC8B-1F158E4CD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24347A-875D-9C4A-A163-CD09B3AC4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80D356-80B2-0344-9149-E73585A8D1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48980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7E50FF-FEE5-5741-9460-4B52DAA5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011ED6-598E-2B4F-9F4A-41C8DA644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433" y="1484314"/>
            <a:ext cx="5657851" cy="496887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108709-C29A-EE46-8F87-EEB27A872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5485" y="1484314"/>
            <a:ext cx="5659967" cy="496887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B059E7-9C61-3B40-A2EE-14BB1087A8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84164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317BC-4565-414C-8D94-626954C9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E59BE3-552A-3640-AB90-44238C419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F8D840-F9AD-1C4E-8049-B420E877A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8FBBCF2-1366-FD4D-92E4-3306D89AF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C5FFCD4-B357-4949-B8E0-2605627F9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83F6F453-3BE3-D14D-9A5B-E47FCEF5C4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85116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717BC-B0C6-FA47-AB70-50F49363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EF3645-2CAE-7448-BCE7-89DC14E1F7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105811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6F1F579-C2C1-5C44-B264-4FAD94E812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38118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F7DA5-5C45-BA45-A632-EB1C9634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F4DD0D-D2C5-C940-991F-1CF52217A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F5C143-6794-6D4C-B4D9-B678A158A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552EF0-2687-DA4A-A29C-47E75D2D69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3274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319790-67C1-EE46-91F0-E0127FF0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C70EDA4-61D1-5642-90F3-2B5E42140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D9A739-7AA7-E945-A4BC-46F614F8F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FA8E52-2E6D-2E4D-A74D-960FA422C8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31948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89D9C-1BA5-4F41-A321-794692C2A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593E05-8B61-E643-9A5A-C452118C3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0865D9-38FC-AB4B-AA34-0E67F369EF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200107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79228C8-7320-6A40-9702-02EB6DBEA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76784" y="488950"/>
            <a:ext cx="2878667" cy="59642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590E79D-16A8-794D-842A-7E5BFA533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4434" y="488950"/>
            <a:ext cx="8439151" cy="59642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BF10A8-F3D9-7342-8F08-606E9479EB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34169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CA5740-6AB4-0640-AF0C-69ED6F37E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71F4F2F-B986-7449-965F-5D8046DE6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26634AD-280B-B542-91F8-73AC2A92C2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647348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D1E42-9020-F546-88E3-DF5CD71D0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FD97E9-A17A-F64C-8335-FECBAC898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D2CFC2-7D8F-6B47-996F-483B1C8FC9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531257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6F4AC5-E813-C846-93FC-4B45238A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C6781B-B5ED-E047-9026-F0E1FF080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BFB12E-58B5-8D4F-920E-0F47545C90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73982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23B366-6FA3-6E46-B182-A71A7700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A1A3C5-4016-7E43-9BE8-1A6F5462D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433" y="1484314"/>
            <a:ext cx="5657851" cy="496887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B3C992-3402-0F49-85A8-0125C2115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5485" y="1484314"/>
            <a:ext cx="5659967" cy="496887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9A85A8-1E02-6C4C-94CE-D1D04185A3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553319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F5EEA6-5F60-1844-95AC-EE64821EA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091C51-D324-0A4B-AE50-098948EA3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7C4E6F-F41C-1648-9B74-1D6D31BF7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BA7B82-B258-E541-8B8C-AFFC4E8EB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885B1D1-2869-E74D-89AC-885DC0608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6A4F9C6-4FFD-0E42-A290-4B6C2FAAF7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025183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631B4-5CFF-EC48-9738-A6A11BD6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D166B36-6194-3740-A29C-61C017D7E1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9863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FA63611-CE79-9E49-BDA7-5B844E9AF6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203126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5BBB35-8DBC-1644-9642-51CE4DC6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E339D5-DDB0-8849-9E7B-B7BBBEAC8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3E9B1F-69A1-B34A-BBBE-BB405AC8A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928D97-F197-6146-8230-76E2462960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92350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46FF1F-DA28-6245-98F6-A2D83AD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94CDDDA-E4F7-C44B-AAC7-E451F4ED88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0428393-7D45-334A-BBB0-7EB7677E8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C62AC4-1D29-5144-AD56-06A50A5AF4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298545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7579DF-C210-8444-97FE-D69D7339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54437B-FC27-5441-AE4B-E3C20556F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5FF96-4757-E44F-A8E2-204CCFF76F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987926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CC08224-FA88-3142-BD17-906D7F47B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76784" y="488950"/>
            <a:ext cx="2878667" cy="59642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9F1D49-A8C0-4342-A747-FF52EC616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4434" y="488950"/>
            <a:ext cx="8439151" cy="59642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335025D-0EEE-BA4C-8E88-8E2F1600C1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1833747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B7CD1-B173-1445-93C9-0D5D6942A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A7AE976-38D6-1E4B-9550-DDC6C8A64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088C41-E601-C84F-9384-69B2C12AFB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23020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20E0FA-12E7-3845-9F4C-BAC7C774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861D4-B129-064F-9B7C-90F7DD59F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27D0AA-056C-404A-A072-1F2288B6D8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451650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0ECFDD-D17B-3C41-A4BC-F670D65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E7F0A6-45BD-724B-8485-1EE1A341C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BDC749-1FDD-7941-858B-9C499AB2F1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78645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31CCEC-2B6A-7740-9ABB-A2A83A46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7E74DC-94CF-284F-8D4A-26C3C745F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433" y="1484314"/>
            <a:ext cx="5657851" cy="496887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537917-0FAD-DB4E-AB1C-0BB8AEDE9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5485" y="1484314"/>
            <a:ext cx="5659967" cy="496887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1ECCDF-F7D1-984C-B26D-6FC5AE6CEC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144169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B66AD-8199-704B-8DF8-28F23A01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332921-BDCA-E846-AA1B-3D70A628C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254A5B-3874-A341-A081-B007041D1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DF8412-0420-6148-B155-531145FB8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3A9E36B-4F8E-B94E-BDB0-CFE0653E5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1EB3C6E-6962-F449-B945-6499A08B59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625730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08F784-95C3-7A41-BDE6-8C8EDDD57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8F9828-D0F9-3D43-927F-6B2C86F24C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31068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99A4531-FA10-8B47-9796-E400E68F45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435957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7EB37-4489-744C-A299-C9456BF07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7EE392-37ED-3648-AB3F-187D188BB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91602C-8C09-F047-931F-FEE3EC6D3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7B57F4-FCA4-1A4E-B113-B7B3FF42D5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04325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3501C7-5FEB-4048-987B-C0A58EDF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A3E2D0E-C9FF-7D46-8F16-7ED803CA1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D1DF63-722D-C447-9639-198085826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8D878E-674E-684F-B8F6-883F36E12A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668505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A486B-53C5-EB4A-99C3-547D8163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45C8001-A040-F34B-BB21-3226D375B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6C5773-CAD8-B442-9F7D-5AA1E1DFE3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340500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5CFFC75-54BD-DD4C-84AE-CDCC17590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76784" y="488950"/>
            <a:ext cx="2878667" cy="59642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C62CD9-8F44-6C4A-8CBD-6363EAFCD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4434" y="488950"/>
            <a:ext cx="8439151" cy="59642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B16060-B6D2-D04A-A969-534ED2EE7A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3005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Line 2">
            <a:extLst>
              <a:ext uri="{FF2B5EF4-FFF2-40B4-BE49-F238E27FC236}">
                <a16:creationId xmlns:a16="http://schemas.microsoft.com/office/drawing/2014/main" id="{1A34FA7D-40CD-D340-AA75-2EEFF9CE1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1" y="6489700"/>
            <a:ext cx="11521016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171EAEE5-8210-C54C-BF77-A91402C4F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368300"/>
            <a:ext cx="11523133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503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87044" name="SlideTitle">
            <a:extLst>
              <a:ext uri="{FF2B5EF4-FFF2-40B4-BE49-F238E27FC236}">
                <a16:creationId xmlns:a16="http://schemas.microsoft.com/office/drawing/2014/main" id="{CEE49C4B-CC76-A840-A9D1-7151B429CB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8367" y="488950"/>
            <a:ext cx="9169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C3FCFA57-F9A1-FA40-88D3-4AE6D387B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1484314"/>
            <a:ext cx="11521017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C2AD5B28-DB9C-B34C-A52E-90B8687AFC3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4434" y="6510339"/>
            <a:ext cx="7825317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buClrTx/>
              <a:buSzTx/>
              <a:buFontTx/>
              <a:buNone/>
              <a:defRPr sz="1000">
                <a:solidFill>
                  <a:srgbClr val="B5B5B5"/>
                </a:solidFill>
              </a:defRPr>
            </a:lvl1pPr>
          </a:lstStyle>
          <a:p>
            <a:endParaRPr lang="de-DE" altLang="de-DE" dirty="0"/>
          </a:p>
        </p:txBody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9FC3B3B5-F02D-C147-8C5C-5602FF163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196851"/>
            <a:ext cx="11523133" cy="144463"/>
          </a:xfrm>
          <a:prstGeom prst="rect">
            <a:avLst/>
          </a:prstGeom>
          <a:solidFill>
            <a:srgbClr val="005AA9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B5B5B5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/>
          </a:p>
        </p:txBody>
      </p:sp>
      <p:pic>
        <p:nvPicPr>
          <p:cNvPr id="87048" name="Picture 8" descr="tud_logo">
            <a:extLst>
              <a:ext uri="{FF2B5EF4-FFF2-40B4-BE49-F238E27FC236}">
                <a16:creationId xmlns:a16="http://schemas.microsoft.com/office/drawing/2014/main" id="{75FADE13-2856-7D46-9F21-496745ACF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3"/>
          <a:stretch>
            <a:fillRect/>
          </a:stretch>
        </p:blipFill>
        <p:spPr bwMode="auto">
          <a:xfrm>
            <a:off x="10056440" y="512763"/>
            <a:ext cx="194506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9" name="Line 9">
            <a:extLst>
              <a:ext uri="{FF2B5EF4-FFF2-40B4-BE49-F238E27FC236}">
                <a16:creationId xmlns:a16="http://schemas.microsoft.com/office/drawing/2014/main" id="{E1A6F28F-0B64-724E-8478-07E00666B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34" y="1449388"/>
            <a:ext cx="11521017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87050" name="Rectangle 10">
            <a:extLst>
              <a:ext uri="{FF2B5EF4-FFF2-40B4-BE49-F238E27FC236}">
                <a16:creationId xmlns:a16="http://schemas.microsoft.com/office/drawing/2014/main" id="{4E4894A8-531C-E846-B513-8398D481B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366714"/>
            <a:ext cx="11521017" cy="1428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87051" name="Rectangle 11">
            <a:extLst>
              <a:ext uri="{FF2B5EF4-FFF2-40B4-BE49-F238E27FC236}">
                <a16:creationId xmlns:a16="http://schemas.microsoft.com/office/drawing/2014/main" id="{80179BD4-786E-9146-906C-5D013DFAA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8933" y="6524626"/>
            <a:ext cx="3168651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 ea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000" dirty="0">
                <a:solidFill>
                  <a:srgbClr val="B5B5B5"/>
                </a:solidFill>
              </a:rPr>
              <a:t>KOM – Communication Networks Lab  </a:t>
            </a:r>
            <a:endParaRPr lang="de-DE" altLang="de-DE" sz="1000" dirty="0">
              <a:solidFill>
                <a:srgbClr val="B5B5B5"/>
              </a:solidFill>
            </a:endParaRPr>
          </a:p>
        </p:txBody>
      </p:sp>
      <p:sp>
        <p:nvSpPr>
          <p:cNvPr id="87052" name="Rectangle 12">
            <a:extLst>
              <a:ext uri="{FF2B5EF4-FFF2-40B4-BE49-F238E27FC236}">
                <a16:creationId xmlns:a16="http://schemas.microsoft.com/office/drawing/2014/main" id="{62C6237B-327D-0C4A-B417-0CC6F3EB1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8401" y="6524625"/>
            <a:ext cx="529167" cy="21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ct val="100000"/>
              </a:lnSpc>
              <a:buClrTx/>
              <a:buSzTx/>
              <a:buFontTx/>
              <a:buNone/>
            </a:pPr>
            <a:fld id="{3A962300-B7FB-FB4E-BD4E-FDF09E2A9D53}" type="slidenum">
              <a:rPr lang="de-DE" altLang="de-DE" sz="1000"/>
              <a:pPr algn="r">
                <a:lnSpc>
                  <a:spcPct val="100000"/>
                </a:lnSpc>
                <a:buClrTx/>
                <a:buSzTx/>
                <a:buFontTx/>
                <a:buNone/>
              </a:pPr>
              <a:t>‹#›</a:t>
            </a:fld>
            <a:endParaRPr lang="de-DE" altLang="de-DE" sz="1000"/>
          </a:p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endParaRPr lang="de-DE" altLang="de-DE" sz="1000">
              <a:solidFill>
                <a:srgbClr val="B5B5B5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179388" indent="-179388" algn="l" rtl="0" fontAlgn="base">
        <a:spcBef>
          <a:spcPct val="20000"/>
        </a:spcBef>
        <a:spcAft>
          <a:spcPct val="0"/>
        </a:spcAft>
        <a:buFont typeface="Wingdings" pitchFamily="2" charset="2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49250" indent="-16827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8732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717550" indent="-1730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8050" indent="-188913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Line 2">
            <a:extLst>
              <a:ext uri="{FF2B5EF4-FFF2-40B4-BE49-F238E27FC236}">
                <a16:creationId xmlns:a16="http://schemas.microsoft.com/office/drawing/2014/main" id="{78FD0567-2805-5F40-A433-48DF1A5274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1" y="6489700"/>
            <a:ext cx="11521016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3B220695-38AE-8046-856F-3F3459DFA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368300"/>
            <a:ext cx="11523133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503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98660" name="SlideTitle">
            <a:extLst>
              <a:ext uri="{FF2B5EF4-FFF2-40B4-BE49-F238E27FC236}">
                <a16:creationId xmlns:a16="http://schemas.microsoft.com/office/drawing/2014/main" id="{93FFD59D-9051-CA4E-A9CB-67C6DAF331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94367" y="488950"/>
            <a:ext cx="8153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98661" name="Rectangle 5">
            <a:extLst>
              <a:ext uri="{FF2B5EF4-FFF2-40B4-BE49-F238E27FC236}">
                <a16:creationId xmlns:a16="http://schemas.microsoft.com/office/drawing/2014/main" id="{A7876A5C-79F9-2F42-A46D-3E75B31F54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1484314"/>
            <a:ext cx="11521017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98662" name="Rectangle 6">
            <a:extLst>
              <a:ext uri="{FF2B5EF4-FFF2-40B4-BE49-F238E27FC236}">
                <a16:creationId xmlns:a16="http://schemas.microsoft.com/office/drawing/2014/main" id="{D3D5E01B-2B11-D346-8776-01F30347099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4434" y="6510339"/>
            <a:ext cx="7825317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buClrTx/>
              <a:buSzTx/>
              <a:buFontTx/>
              <a:buNone/>
              <a:defRPr sz="1000">
                <a:solidFill>
                  <a:srgbClr val="B5B5B5"/>
                </a:solidFill>
              </a:defRPr>
            </a:lvl1pPr>
          </a:lstStyle>
          <a:p>
            <a:endParaRPr lang="de-DE" altLang="de-DE"/>
          </a:p>
          <a:p>
            <a:endParaRPr lang="de-DE" altLang="de-DE"/>
          </a:p>
        </p:txBody>
      </p:sp>
      <p:sp>
        <p:nvSpPr>
          <p:cNvPr id="198663" name="Rectangle 7">
            <a:extLst>
              <a:ext uri="{FF2B5EF4-FFF2-40B4-BE49-F238E27FC236}">
                <a16:creationId xmlns:a16="http://schemas.microsoft.com/office/drawing/2014/main" id="{64175626-1C79-9148-B020-FCFE009B9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196851"/>
            <a:ext cx="11523133" cy="144463"/>
          </a:xfrm>
          <a:prstGeom prst="rect">
            <a:avLst/>
          </a:prstGeom>
          <a:solidFill>
            <a:srgbClr val="005AA9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B5B5B5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98665" name="Line 9">
            <a:extLst>
              <a:ext uri="{FF2B5EF4-FFF2-40B4-BE49-F238E27FC236}">
                <a16:creationId xmlns:a16="http://schemas.microsoft.com/office/drawing/2014/main" id="{08B949B1-67F5-4849-98A2-40AEAF7C6C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34" y="1449388"/>
            <a:ext cx="11521017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98666" name="Rectangle 10">
            <a:extLst>
              <a:ext uri="{FF2B5EF4-FFF2-40B4-BE49-F238E27FC236}">
                <a16:creationId xmlns:a16="http://schemas.microsoft.com/office/drawing/2014/main" id="{F2D670F4-856C-A043-B899-DCA724635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366714"/>
            <a:ext cx="11521017" cy="1428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98667" name="Rectangle 11">
            <a:extLst>
              <a:ext uri="{FF2B5EF4-FFF2-40B4-BE49-F238E27FC236}">
                <a16:creationId xmlns:a16="http://schemas.microsoft.com/office/drawing/2014/main" id="{E80AFBE2-AB6B-F143-B929-E9CC4A139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8933" y="6524626"/>
            <a:ext cx="3168651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 ea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000" dirty="0">
                <a:solidFill>
                  <a:srgbClr val="B5B5B5"/>
                </a:solidFill>
              </a:rPr>
              <a:t>KOM – Communication Networks Lab  </a:t>
            </a:r>
            <a:endParaRPr lang="de-DE" altLang="de-DE" sz="1000" dirty="0">
              <a:solidFill>
                <a:srgbClr val="B5B5B5"/>
              </a:solidFill>
            </a:endParaRPr>
          </a:p>
        </p:txBody>
      </p:sp>
      <p:sp>
        <p:nvSpPr>
          <p:cNvPr id="198668" name="Rectangle 12">
            <a:extLst>
              <a:ext uri="{FF2B5EF4-FFF2-40B4-BE49-F238E27FC236}">
                <a16:creationId xmlns:a16="http://schemas.microsoft.com/office/drawing/2014/main" id="{54E101DD-979A-B14D-8D62-D927C724C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8401" y="6524625"/>
            <a:ext cx="529167" cy="21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ct val="100000"/>
              </a:lnSpc>
              <a:buClrTx/>
              <a:buSzTx/>
              <a:buFontTx/>
              <a:buNone/>
            </a:pPr>
            <a:fld id="{4D32D82C-D931-894A-BE01-DFF83ACF4151}" type="slidenum">
              <a:rPr lang="de-DE" altLang="de-DE" sz="1000"/>
              <a:pPr algn="r">
                <a:lnSpc>
                  <a:spcPct val="100000"/>
                </a:lnSpc>
                <a:buClrTx/>
                <a:buSzTx/>
                <a:buFontTx/>
                <a:buNone/>
              </a:pPr>
              <a:t>‹#›</a:t>
            </a:fld>
            <a:endParaRPr lang="de-DE" altLang="de-DE" sz="1000"/>
          </a:p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endParaRPr lang="de-DE" altLang="de-DE" sz="1000">
              <a:solidFill>
                <a:srgbClr val="B5B5B5"/>
              </a:solidFill>
            </a:endParaRPr>
          </a:p>
        </p:txBody>
      </p:sp>
      <p:pic>
        <p:nvPicPr>
          <p:cNvPr id="13" name="Picture 8" descr="tud_logo">
            <a:extLst>
              <a:ext uri="{FF2B5EF4-FFF2-40B4-BE49-F238E27FC236}">
                <a16:creationId xmlns:a16="http://schemas.microsoft.com/office/drawing/2014/main" id="{75FADE13-2856-7D46-9F21-496745ACF4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3"/>
          <a:stretch>
            <a:fillRect/>
          </a:stretch>
        </p:blipFill>
        <p:spPr bwMode="auto">
          <a:xfrm>
            <a:off x="9912424" y="512763"/>
            <a:ext cx="2089076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179388" indent="-179388" algn="l" rtl="0" fontAlgn="base">
        <a:spcBef>
          <a:spcPct val="20000"/>
        </a:spcBef>
        <a:spcAft>
          <a:spcPct val="0"/>
        </a:spcAft>
        <a:buFont typeface="Wingdings" pitchFamily="2" charset="2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49250" indent="-16827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8732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717550" indent="-1730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8050" indent="-188913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Line 2">
            <a:extLst>
              <a:ext uri="{FF2B5EF4-FFF2-40B4-BE49-F238E27FC236}">
                <a16:creationId xmlns:a16="http://schemas.microsoft.com/office/drawing/2014/main" id="{9F339214-ED49-0C42-B9FB-99DF9EF33F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1" y="6489700"/>
            <a:ext cx="11521016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EF93C78A-3FC9-F340-B807-4EF678E4F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368300"/>
            <a:ext cx="11523133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503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200708" name="SlideTitle">
            <a:extLst>
              <a:ext uri="{FF2B5EF4-FFF2-40B4-BE49-F238E27FC236}">
                <a16:creationId xmlns:a16="http://schemas.microsoft.com/office/drawing/2014/main" id="{34CD5754-291D-0349-8485-C47B61E70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94367" y="488950"/>
            <a:ext cx="8153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200709" name="Rectangle 5">
            <a:extLst>
              <a:ext uri="{FF2B5EF4-FFF2-40B4-BE49-F238E27FC236}">
                <a16:creationId xmlns:a16="http://schemas.microsoft.com/office/drawing/2014/main" id="{AF7DAF12-4A51-6A44-895A-1D32BB8CF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1484314"/>
            <a:ext cx="11521017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200710" name="Rectangle 6">
            <a:extLst>
              <a:ext uri="{FF2B5EF4-FFF2-40B4-BE49-F238E27FC236}">
                <a16:creationId xmlns:a16="http://schemas.microsoft.com/office/drawing/2014/main" id="{F50960AB-8DCD-6A4D-A3BC-44433FB780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4434" y="6510339"/>
            <a:ext cx="7825317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buClrTx/>
              <a:buSzTx/>
              <a:buFontTx/>
              <a:buNone/>
              <a:defRPr sz="1000">
                <a:solidFill>
                  <a:srgbClr val="B5B5B5"/>
                </a:solidFill>
              </a:defRPr>
            </a:lvl1pPr>
          </a:lstStyle>
          <a:p>
            <a:endParaRPr lang="de-DE" altLang="de-DE"/>
          </a:p>
          <a:p>
            <a:endParaRPr lang="de-DE" altLang="de-DE"/>
          </a:p>
        </p:txBody>
      </p:sp>
      <p:sp>
        <p:nvSpPr>
          <p:cNvPr id="200711" name="Rectangle 7">
            <a:extLst>
              <a:ext uri="{FF2B5EF4-FFF2-40B4-BE49-F238E27FC236}">
                <a16:creationId xmlns:a16="http://schemas.microsoft.com/office/drawing/2014/main" id="{56D309F6-C3B9-4248-A641-EE49A76C2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196851"/>
            <a:ext cx="11523133" cy="144463"/>
          </a:xfrm>
          <a:prstGeom prst="rect">
            <a:avLst/>
          </a:prstGeom>
          <a:solidFill>
            <a:srgbClr val="005AA9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B5B5B5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0713" name="Line 9">
            <a:extLst>
              <a:ext uri="{FF2B5EF4-FFF2-40B4-BE49-F238E27FC236}">
                <a16:creationId xmlns:a16="http://schemas.microsoft.com/office/drawing/2014/main" id="{2A2293B5-D1CA-6E44-86BB-4ADF1BB1CB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34" y="1449388"/>
            <a:ext cx="11521017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0714" name="Rectangle 10">
            <a:extLst>
              <a:ext uri="{FF2B5EF4-FFF2-40B4-BE49-F238E27FC236}">
                <a16:creationId xmlns:a16="http://schemas.microsoft.com/office/drawing/2014/main" id="{02FB343C-88B8-F841-B05A-871EA3EF8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366714"/>
            <a:ext cx="11521017" cy="1428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200715" name="Rectangle 11">
            <a:extLst>
              <a:ext uri="{FF2B5EF4-FFF2-40B4-BE49-F238E27FC236}">
                <a16:creationId xmlns:a16="http://schemas.microsoft.com/office/drawing/2014/main" id="{A1E76931-558D-204F-AA76-DDB5EDB52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8933" y="6524626"/>
            <a:ext cx="3168651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 ea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000" dirty="0">
                <a:solidFill>
                  <a:srgbClr val="B5B5B5"/>
                </a:solidFill>
              </a:rPr>
              <a:t>KOM – Communication Networks Lab  </a:t>
            </a:r>
            <a:endParaRPr lang="de-DE" altLang="de-DE" sz="1000" dirty="0">
              <a:solidFill>
                <a:srgbClr val="B5B5B5"/>
              </a:solidFill>
            </a:endParaRPr>
          </a:p>
        </p:txBody>
      </p:sp>
      <p:sp>
        <p:nvSpPr>
          <p:cNvPr id="200716" name="Rectangle 12">
            <a:extLst>
              <a:ext uri="{FF2B5EF4-FFF2-40B4-BE49-F238E27FC236}">
                <a16:creationId xmlns:a16="http://schemas.microsoft.com/office/drawing/2014/main" id="{306C2623-B976-7946-9238-6B9F3AAC6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8401" y="6524625"/>
            <a:ext cx="529167" cy="21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ct val="100000"/>
              </a:lnSpc>
              <a:buClrTx/>
              <a:buSzTx/>
              <a:buFontTx/>
              <a:buNone/>
            </a:pPr>
            <a:fld id="{D923F5D9-817D-B74F-B78B-A6D6D66463BD}" type="slidenum">
              <a:rPr lang="de-DE" altLang="de-DE" sz="1000"/>
              <a:pPr algn="r">
                <a:lnSpc>
                  <a:spcPct val="100000"/>
                </a:lnSpc>
                <a:buClrTx/>
                <a:buSzTx/>
                <a:buFontTx/>
                <a:buNone/>
              </a:pPr>
              <a:t>‹#›</a:t>
            </a:fld>
            <a:endParaRPr lang="de-DE" altLang="de-DE" sz="1000"/>
          </a:p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endParaRPr lang="de-DE" altLang="de-DE" sz="1000">
              <a:solidFill>
                <a:srgbClr val="B5B5B5"/>
              </a:solidFill>
            </a:endParaRPr>
          </a:p>
        </p:txBody>
      </p:sp>
      <p:pic>
        <p:nvPicPr>
          <p:cNvPr id="13" name="Picture 8" descr="tud_logo">
            <a:extLst>
              <a:ext uri="{FF2B5EF4-FFF2-40B4-BE49-F238E27FC236}">
                <a16:creationId xmlns:a16="http://schemas.microsoft.com/office/drawing/2014/main" id="{75FADE13-2856-7D46-9F21-496745ACF4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3"/>
          <a:stretch>
            <a:fillRect/>
          </a:stretch>
        </p:blipFill>
        <p:spPr bwMode="auto">
          <a:xfrm>
            <a:off x="9912424" y="512763"/>
            <a:ext cx="2089076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179388" indent="-179388" algn="l" rtl="0" fontAlgn="base">
        <a:spcBef>
          <a:spcPct val="20000"/>
        </a:spcBef>
        <a:spcAft>
          <a:spcPct val="0"/>
        </a:spcAft>
        <a:buFont typeface="Wingdings" pitchFamily="2" charset="2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49250" indent="-16827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8732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717550" indent="-1730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8050" indent="-188913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Line 2">
            <a:extLst>
              <a:ext uri="{FF2B5EF4-FFF2-40B4-BE49-F238E27FC236}">
                <a16:creationId xmlns:a16="http://schemas.microsoft.com/office/drawing/2014/main" id="{BA3B35AD-7AD2-764B-9292-92931D572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1" y="6489700"/>
            <a:ext cx="11521016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3FF5F62E-0E79-A84E-81BC-5FCB2CC7C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368300"/>
            <a:ext cx="11523133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9503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202756" name="SlideTitle">
            <a:extLst>
              <a:ext uri="{FF2B5EF4-FFF2-40B4-BE49-F238E27FC236}">
                <a16:creationId xmlns:a16="http://schemas.microsoft.com/office/drawing/2014/main" id="{8D6F4CB2-8BC3-C245-91C7-665B278FD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94367" y="488950"/>
            <a:ext cx="8153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202757" name="Rectangle 5">
            <a:extLst>
              <a:ext uri="{FF2B5EF4-FFF2-40B4-BE49-F238E27FC236}">
                <a16:creationId xmlns:a16="http://schemas.microsoft.com/office/drawing/2014/main" id="{670FCFB0-259D-C240-94D3-918B4F9C3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1484314"/>
            <a:ext cx="11521017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202758" name="Rectangle 6">
            <a:extLst>
              <a:ext uri="{FF2B5EF4-FFF2-40B4-BE49-F238E27FC236}">
                <a16:creationId xmlns:a16="http://schemas.microsoft.com/office/drawing/2014/main" id="{82D5DB48-DFFD-4648-898A-488403EBE9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4434" y="6510339"/>
            <a:ext cx="7825317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buClrTx/>
              <a:buSzTx/>
              <a:buFontTx/>
              <a:buNone/>
              <a:defRPr sz="1000">
                <a:solidFill>
                  <a:srgbClr val="B5B5B5"/>
                </a:solidFill>
              </a:defRPr>
            </a:lvl1pPr>
          </a:lstStyle>
          <a:p>
            <a:endParaRPr lang="de-DE" altLang="de-DE"/>
          </a:p>
          <a:p>
            <a:endParaRPr lang="de-DE" altLang="de-DE"/>
          </a:p>
        </p:txBody>
      </p:sp>
      <p:sp>
        <p:nvSpPr>
          <p:cNvPr id="202759" name="Rectangle 7">
            <a:extLst>
              <a:ext uri="{FF2B5EF4-FFF2-40B4-BE49-F238E27FC236}">
                <a16:creationId xmlns:a16="http://schemas.microsoft.com/office/drawing/2014/main" id="{A54810BB-49E6-A447-B52E-A31BEA909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196851"/>
            <a:ext cx="11523133" cy="144463"/>
          </a:xfrm>
          <a:prstGeom prst="rect">
            <a:avLst/>
          </a:prstGeom>
          <a:solidFill>
            <a:srgbClr val="005AA9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B5B5B5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2761" name="Line 9">
            <a:extLst>
              <a:ext uri="{FF2B5EF4-FFF2-40B4-BE49-F238E27FC236}">
                <a16:creationId xmlns:a16="http://schemas.microsoft.com/office/drawing/2014/main" id="{9ACED2D6-95B6-4F4B-9F93-C0BA5C85B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34" y="1449388"/>
            <a:ext cx="11521017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2762" name="Rectangle 10">
            <a:extLst>
              <a:ext uri="{FF2B5EF4-FFF2-40B4-BE49-F238E27FC236}">
                <a16:creationId xmlns:a16="http://schemas.microsoft.com/office/drawing/2014/main" id="{64025B8F-07F4-FC4C-8D67-F52D3C1F2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4" y="366714"/>
            <a:ext cx="11521017" cy="1428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202763" name="Rectangle 11">
            <a:extLst>
              <a:ext uri="{FF2B5EF4-FFF2-40B4-BE49-F238E27FC236}">
                <a16:creationId xmlns:a16="http://schemas.microsoft.com/office/drawing/2014/main" id="{83FBC0AE-32CE-E546-A2A9-2D0436FBE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8933" y="6524626"/>
            <a:ext cx="3168651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 ea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de-DE" sz="1000" dirty="0">
                <a:solidFill>
                  <a:srgbClr val="B5B5B5"/>
                </a:solidFill>
              </a:rPr>
              <a:t>KOM – Communication Networks Lab  </a:t>
            </a:r>
            <a:endParaRPr lang="de-DE" altLang="de-DE" sz="1000" dirty="0">
              <a:solidFill>
                <a:srgbClr val="B5B5B5"/>
              </a:solidFill>
            </a:endParaRPr>
          </a:p>
        </p:txBody>
      </p:sp>
      <p:sp>
        <p:nvSpPr>
          <p:cNvPr id="202764" name="Rectangle 12">
            <a:extLst>
              <a:ext uri="{FF2B5EF4-FFF2-40B4-BE49-F238E27FC236}">
                <a16:creationId xmlns:a16="http://schemas.microsoft.com/office/drawing/2014/main" id="{F14FEB49-BBF3-9D49-AA65-879D53A9C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8401" y="6524625"/>
            <a:ext cx="529167" cy="21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>
              <a:lnSpc>
                <a:spcPct val="100000"/>
              </a:lnSpc>
              <a:buClrTx/>
              <a:buSzTx/>
              <a:buFontTx/>
              <a:buNone/>
            </a:pPr>
            <a:fld id="{FC8AAE70-2A80-A24D-AB25-AAF69843DF70}" type="slidenum">
              <a:rPr lang="de-DE" altLang="de-DE" sz="1000"/>
              <a:pPr algn="r">
                <a:lnSpc>
                  <a:spcPct val="100000"/>
                </a:lnSpc>
                <a:buClrTx/>
                <a:buSzTx/>
                <a:buFontTx/>
                <a:buNone/>
              </a:pPr>
              <a:t>‹#›</a:t>
            </a:fld>
            <a:endParaRPr lang="de-DE" altLang="de-DE" sz="1000"/>
          </a:p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endParaRPr lang="de-DE" altLang="de-DE" sz="1000">
              <a:solidFill>
                <a:srgbClr val="B5B5B5"/>
              </a:solidFill>
            </a:endParaRPr>
          </a:p>
        </p:txBody>
      </p:sp>
      <p:pic>
        <p:nvPicPr>
          <p:cNvPr id="13" name="Picture 8" descr="tud_logo">
            <a:extLst>
              <a:ext uri="{FF2B5EF4-FFF2-40B4-BE49-F238E27FC236}">
                <a16:creationId xmlns:a16="http://schemas.microsoft.com/office/drawing/2014/main" id="{75FADE13-2856-7D46-9F21-496745ACF4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3"/>
          <a:stretch>
            <a:fillRect/>
          </a:stretch>
        </p:blipFill>
        <p:spPr bwMode="auto">
          <a:xfrm>
            <a:off x="9912424" y="512763"/>
            <a:ext cx="2089076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179388" indent="-179388" algn="l" rtl="0" fontAlgn="base">
        <a:spcBef>
          <a:spcPct val="20000"/>
        </a:spcBef>
        <a:spcAft>
          <a:spcPct val="0"/>
        </a:spcAft>
        <a:buFont typeface="Wingdings" pitchFamily="2" charset="2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49250" indent="-16827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87325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717550" indent="-1730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8050" indent="-188913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mircan.haslak@stud.tu-darmstadt.d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8367" y="620688"/>
            <a:ext cx="8978900" cy="920476"/>
          </a:xfrm>
        </p:spPr>
        <p:txBody>
          <a:bodyPr>
            <a:normAutofit/>
          </a:bodyPr>
          <a:lstStyle/>
          <a:p>
            <a:r>
              <a:rPr lang="en-US" dirty="0"/>
              <a:t>LLM-Based Crypto Market Signal Detection from X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73693" y="1772817"/>
            <a:ext cx="8978900" cy="648072"/>
          </a:xfrm>
        </p:spPr>
        <p:txBody>
          <a:bodyPr/>
          <a:lstStyle/>
          <a:p>
            <a:r>
              <a:rPr lang="en-US" dirty="0"/>
              <a:t>KOM Lab Final Presentation – Group 7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68446" y="5610726"/>
            <a:ext cx="4315386" cy="786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algn="ctr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algn="l">
              <a:lnSpc>
                <a:spcPct val="100000"/>
              </a:lnSpc>
              <a:spcAft>
                <a:spcPct val="10000"/>
              </a:spcAft>
              <a:buClr>
                <a:schemeClr val="tx1"/>
              </a:buClr>
              <a:buFontTx/>
              <a:buNone/>
            </a:pPr>
            <a:r>
              <a:rPr lang="en-US" sz="1100" b="1" dirty="0">
                <a:solidFill>
                  <a:schemeClr val="tx1"/>
                </a:solidFill>
              </a:rPr>
              <a:t>Emircan Haslak &amp; </a:t>
            </a:r>
            <a:r>
              <a:rPr lang="en-US" sz="1100" b="1" dirty="0" err="1">
                <a:solidFill>
                  <a:schemeClr val="tx1"/>
                </a:solidFill>
              </a:rPr>
              <a:t>Yeseok</a:t>
            </a:r>
            <a:r>
              <a:rPr lang="en-US" sz="1100" b="1" dirty="0">
                <a:solidFill>
                  <a:schemeClr val="tx1"/>
                </a:solidFill>
              </a:rPr>
              <a:t> Bae</a:t>
            </a:r>
          </a:p>
          <a:p>
            <a:pPr algn="l">
              <a:lnSpc>
                <a:spcPct val="100000"/>
              </a:lnSpc>
              <a:spcAft>
                <a:spcPct val="10000"/>
              </a:spcAft>
              <a:buClr>
                <a:schemeClr val="tx1"/>
              </a:buClr>
              <a:buFontTx/>
              <a:buNone/>
            </a:pPr>
            <a:r>
              <a:rPr lang="de-DE" sz="1100" dirty="0">
                <a:solidFill>
                  <a:schemeClr val="tx1"/>
                </a:solidFill>
                <a:hlinkClick r:id="rId3"/>
              </a:rPr>
              <a:t>emircan.haslak@stud.tu-darmstadt.de</a:t>
            </a:r>
            <a:r>
              <a:rPr lang="de-DE" sz="1100" dirty="0">
                <a:solidFill>
                  <a:schemeClr val="tx1"/>
                </a:solidFill>
              </a:rPr>
              <a:t> &amp; leeys5868@gmail.com</a:t>
            </a:r>
            <a:br>
              <a:rPr lang="de-DE" sz="1100" dirty="0">
                <a:solidFill>
                  <a:schemeClr val="tx1"/>
                </a:solidFill>
              </a:rPr>
            </a:br>
            <a:br>
              <a:rPr lang="de-DE" sz="1100" dirty="0">
                <a:solidFill>
                  <a:schemeClr val="tx1"/>
                </a:solidFill>
              </a:rPr>
            </a:br>
            <a:r>
              <a:rPr lang="de-DE" sz="1100" dirty="0">
                <a:solidFill>
                  <a:schemeClr val="tx1"/>
                </a:solidFill>
              </a:rPr>
              <a:t>Leonhard Balduf &amp; Florian Raskob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B4E3EFA-C5FB-FD44-BFBC-0520C8AA9B56}"/>
              </a:ext>
            </a:extLst>
          </p:cNvPr>
          <p:cNvSpPr txBox="1"/>
          <p:nvPr/>
        </p:nvSpPr>
        <p:spPr>
          <a:xfrm>
            <a:off x="268446" y="6491941"/>
            <a:ext cx="6444208" cy="178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600" dirty="0">
                <a:solidFill>
                  <a:schemeClr val="bg1">
                    <a:lumMod val="65000"/>
                  </a:schemeClr>
                </a:solidFill>
              </a:rPr>
              <a:t>Picture Reference: asendofnight17j03: "Sentiment Analysis || LLM || BERT ||" (</a:t>
            </a:r>
            <a:r>
              <a:rPr lang="de-DE" sz="600" dirty="0" err="1">
                <a:solidFill>
                  <a:schemeClr val="bg1">
                    <a:lumMod val="65000"/>
                  </a:schemeClr>
                </a:solidFill>
              </a:rPr>
              <a:t>Kaggle</a:t>
            </a:r>
            <a:r>
              <a:rPr lang="de-DE" sz="600" dirty="0">
                <a:solidFill>
                  <a:schemeClr val="bg1">
                    <a:lumMod val="65000"/>
                  </a:schemeClr>
                </a:solidFill>
              </a:rPr>
              <a:t> Notebook) – https://www.kaggle.com/code/endofnight17j03/sentiment-analysis-llm-bert</a:t>
            </a:r>
            <a:endParaRPr lang="en-US" sz="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17135A0-4F57-3C92-65D4-C53DC973F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244" y="2292025"/>
            <a:ext cx="4941512" cy="344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7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Research Question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Crypto prices react strongly to public opinion [1, 2]</a:t>
            </a:r>
          </a:p>
          <a:p>
            <a:pPr lvl="1"/>
            <a:r>
              <a:rPr lang="en-US" dirty="0"/>
              <a:t>A single post from an influential person can move prices within minutes [1]</a:t>
            </a:r>
          </a:p>
          <a:p>
            <a:pPr lvl="1"/>
            <a:endParaRPr lang="en-US" dirty="0"/>
          </a:p>
          <a:p>
            <a:r>
              <a:rPr lang="en-US" dirty="0"/>
              <a:t>Social media provides huge volumes of data, but most of it is noise [6]</a:t>
            </a:r>
          </a:p>
          <a:p>
            <a:pPr lvl="1"/>
            <a:r>
              <a:rPr lang="en-US" dirty="0"/>
              <a:t>Spam, unfounded speculation, irrelevant opinions</a:t>
            </a:r>
          </a:p>
          <a:p>
            <a:pPr lvl="1"/>
            <a:endParaRPr lang="en-US" dirty="0"/>
          </a:p>
          <a:p>
            <a:r>
              <a:rPr lang="en-US" dirty="0"/>
              <a:t>Research question</a:t>
            </a:r>
          </a:p>
          <a:p>
            <a:pPr lvl="1"/>
            <a:r>
              <a:rPr lang="en-US" dirty="0"/>
              <a:t>Can an LLM detect market-relevant signals in influencer tweets?</a:t>
            </a:r>
          </a:p>
          <a:p>
            <a:pPr lvl="1"/>
            <a:r>
              <a:rPr lang="en-US" dirty="0"/>
              <a:t>Do these signals connect to measurable short-term price movements?</a:t>
            </a:r>
          </a:p>
          <a:p>
            <a:pPr lvl="1"/>
            <a:endParaRPr lang="en-US" dirty="0"/>
          </a:p>
          <a:p>
            <a:r>
              <a:rPr lang="en-US" dirty="0"/>
              <a:t>Assets: Bitcoin (BTC), Ethereum (ETH), Dogecoin (DOGE) + Solana (SOL, exploratory)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Core Challenges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Language [5, 6]</a:t>
            </a:r>
          </a:p>
          <a:p>
            <a:pPr lvl="1"/>
            <a:r>
              <a:rPr lang="en-US" dirty="0"/>
              <a:t>Crypto slang (“HODL”, “to the moon”, “FOMO”), sarcasm, irony</a:t>
            </a:r>
          </a:p>
          <a:p>
            <a:pPr lvl="1"/>
            <a:r>
              <a:rPr lang="en-US" dirty="0"/>
              <a:t>Dictionary-based sentiment analysis fails, deeper context is required</a:t>
            </a:r>
          </a:p>
          <a:p>
            <a:pPr marL="180975" lvl="1" indent="0">
              <a:buNone/>
            </a:pPr>
            <a:endParaRPr lang="en-US" dirty="0"/>
          </a:p>
          <a:p>
            <a:r>
              <a:rPr lang="en-US" dirty="0"/>
              <a:t>2. Source [1]</a:t>
            </a:r>
          </a:p>
          <a:p>
            <a:pPr lvl="1"/>
            <a:r>
              <a:rPr lang="en-US" dirty="0"/>
              <a:t>Not all posts carry equal weight: millions of followers vs. unknown accounts</a:t>
            </a:r>
          </a:p>
          <a:p>
            <a:pPr marL="180975" lvl="1" indent="0">
              <a:buNone/>
            </a:pPr>
            <a:endParaRPr lang="en-US" dirty="0"/>
          </a:p>
          <a:p>
            <a:r>
              <a:rPr lang="en-US" dirty="0"/>
              <a:t>3. Timing [7]</a:t>
            </a:r>
          </a:p>
          <a:p>
            <a:pPr lvl="1"/>
            <a:r>
              <a:rPr lang="en-US" dirty="0"/>
              <a:t>Reactions occur within minutes and often correct themselves the same day</a:t>
            </a:r>
          </a:p>
          <a:p>
            <a:pPr lvl="1"/>
            <a:r>
              <a:rPr lang="en-US" dirty="0"/>
              <a:t>Daily closing prices hide the original impact of a post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  <p:pic>
        <p:nvPicPr>
          <p:cNvPr id="5" name="Grafik 5">
            <a:extLst>
              <a:ext uri="{FF2B5EF4-FFF2-40B4-BE49-F238E27FC236}">
                <a16:creationId xmlns:a16="http://schemas.microsoft.com/office/drawing/2014/main" id="{7355A36C-529C-215C-2DFA-956464C8F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31" y="4715918"/>
            <a:ext cx="4603769" cy="1910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extract financial signals from text without financial training [3]</a:t>
            </a:r>
          </a:p>
          <a:p>
            <a:endParaRPr lang="en-US" dirty="0"/>
          </a:p>
          <a:p>
            <a:r>
              <a:rPr lang="en-US" dirty="0"/>
              <a:t>BloombergGPT: domain-specific training improves financial NLP [4]</a:t>
            </a:r>
          </a:p>
          <a:p>
            <a:pPr lvl="1"/>
            <a:r>
              <a:rPr lang="en-US" dirty="0"/>
              <a:t>Our contrast: general-purpose model with few-shot prompting only</a:t>
            </a:r>
          </a:p>
          <a:p>
            <a:pPr lvl="1"/>
            <a:endParaRPr lang="en-US" dirty="0"/>
          </a:p>
          <a:p>
            <a:r>
              <a:rPr lang="en-US" dirty="0"/>
              <a:t>LLM sentiment analysis outperforms keyword methods for crypto [2]</a:t>
            </a:r>
          </a:p>
          <a:p>
            <a:endParaRPr lang="en-US" dirty="0"/>
          </a:p>
          <a:p>
            <a:r>
              <a:rPr lang="en-US" dirty="0"/>
              <a:t>Social media is dominated by noise [6], markets react to tweets within minutes [7]</a:t>
            </a:r>
          </a:p>
          <a:p>
            <a:pPr lvl="1"/>
            <a:r>
              <a:rPr lang="en-US" dirty="0"/>
              <a:t>Motivates our design: curated accounts + minute-level evaluation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Daily Signals to Per-Tweet Analysis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approach</a:t>
            </a:r>
          </a:p>
          <a:p>
            <a:pPr lvl="1"/>
            <a:r>
              <a:rPr lang="en-US" dirty="0"/>
              <a:t>Engagement-filtered tweets, one aggregated signal per day</a:t>
            </a:r>
          </a:p>
          <a:p>
            <a:pPr lvl="1"/>
            <a:r>
              <a:rPr lang="en-US" dirty="0"/>
              <a:t>Compared against next-day prices: only ~30% hit rate</a:t>
            </a:r>
          </a:p>
          <a:p>
            <a:pPr lvl="1"/>
            <a:r>
              <a:rPr lang="en-US" dirty="0"/>
              <a:t>Market usually corrected within a day, impact invisible in daily prices [7]</a:t>
            </a:r>
          </a:p>
          <a:p>
            <a:pPr lvl="1"/>
            <a:endParaRPr lang="en-US" dirty="0"/>
          </a:p>
          <a:p>
            <a:r>
              <a:rPr lang="en-US" dirty="0"/>
              <a:t>Final approach</a:t>
            </a:r>
          </a:p>
          <a:p>
            <a:pPr lvl="1"/>
            <a:r>
              <a:rPr lang="en-US" dirty="0"/>
              <a:t>Curated influencer accounts instead of engagement thresholds</a:t>
            </a:r>
          </a:p>
          <a:p>
            <a:pPr lvl="1"/>
            <a:r>
              <a:rPr lang="en-US" dirty="0"/>
              <a:t>Every tweet is evaluated individually, no daily aggregation</a:t>
            </a:r>
          </a:p>
          <a:p>
            <a:pPr lvl="1"/>
            <a:r>
              <a:rPr lang="en-US" dirty="0"/>
              <a:t>Minute-level prices, horizons of 1 to 60 minutes after each tweet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Overview: Four-Stage Pipeline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Data ingestion: one curated tweet dataset per coin</a:t>
            </a:r>
          </a:p>
          <a:p>
            <a:pPr marL="0" indent="0"/>
            <a:endParaRPr lang="en-US" dirty="0"/>
          </a:p>
          <a:p>
            <a:r>
              <a:rPr lang="en-US" dirty="0"/>
              <a:t>2. LLM inference: local Llama 3.1 [8] via Ollama [9]</a:t>
            </a:r>
          </a:p>
          <a:p>
            <a:pPr lvl="1"/>
            <a:r>
              <a:rPr lang="en-US" dirty="0"/>
              <a:t>Local deployment: data privacy, no API costs, strict JSON output</a:t>
            </a:r>
          </a:p>
          <a:p>
            <a:pPr lvl="1"/>
            <a:endParaRPr lang="en-US" dirty="0"/>
          </a:p>
          <a:p>
            <a:r>
              <a:rPr lang="en-US" dirty="0"/>
              <a:t>3. Price data pipeline: Binance 1-minute data [10]</a:t>
            </a:r>
          </a:p>
          <a:p>
            <a:pPr lvl="1"/>
            <a:r>
              <a:rPr lang="en-US" dirty="0"/>
              <a:t>Minute-to-minute price change and change rate per coin</a:t>
            </a:r>
          </a:p>
          <a:p>
            <a:pPr lvl="1"/>
            <a:endParaRPr lang="en-US" dirty="0"/>
          </a:p>
          <a:p>
            <a:r>
              <a:rPr lang="en-US" dirty="0"/>
              <a:t>4. Price matching</a:t>
            </a:r>
          </a:p>
          <a:p>
            <a:pPr lvl="1"/>
            <a:r>
              <a:rPr lang="en-US" dirty="0"/>
              <a:t>Each tweet matched to the price series at its timestamp</a:t>
            </a:r>
          </a:p>
          <a:p>
            <a:pPr lvl="1"/>
            <a:r>
              <a:rPr lang="en-US" dirty="0"/>
              <a:t>Two metrics: directional accuracy + price movement vs. baseline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Influencer Selection &amp; Datasets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434" y="1484314"/>
            <a:ext cx="11521017" cy="950000"/>
          </a:xfrm>
        </p:spPr>
        <p:txBody>
          <a:bodyPr/>
          <a:lstStyle/>
          <a:p>
            <a:r>
              <a:rPr lang="en-US" dirty="0"/>
              <a:t>Advocates (Saylor, Bukele), founders (Buterin, Yakovenko), official project accounts</a:t>
            </a:r>
          </a:p>
          <a:p>
            <a:pPr lvl="1"/>
            <a:r>
              <a:rPr lang="en-US" dirty="0"/>
              <a:t>DOGE: single account, Elon Musk, documented history of moving the market [1]</a:t>
            </a:r>
          </a:p>
        </p:txBody>
      </p:sp>
      <p:graphicFrame>
        <p:nvGraphicFramePr>
          <p:cNvPr id="30" name="Tabelle 30"/>
          <p:cNvGraphicFramePr>
            <a:graphicFrameLocks noGrp="1"/>
          </p:cNvGraphicFramePr>
          <p:nvPr/>
        </p:nvGraphicFramePr>
        <p:xfrm>
          <a:off x="2345000" y="2500000"/>
          <a:ext cx="7500000" cy="1900000"/>
        </p:xfrm>
        <a:graphic>
          <a:graphicData uri="http://schemas.openxmlformats.org/drawingml/2006/table">
            <a:tbl>
              <a:tblPr firstRow="1" bandRow="1"/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Tweets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Accounts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Date range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BTC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Dec 2017 – Jun 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ETH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414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Sep 2017 – Feb 2021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SOL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Nov 2019 – Feb 2021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DOGE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54,274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Dec 2013 – Apr 2025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feld 31"/>
          <p:cNvSpPr txBox="1"/>
          <p:nvPr/>
        </p:nvSpPr>
        <p:spPr>
          <a:xfrm>
            <a:off x="750000" y="4750000"/>
            <a:ext cx="10700000" cy="1300000"/>
          </a:xfrm>
          <a:prstGeom prst="rect">
            <a:avLst/>
          </a:prstGeom>
        </p:spPr>
        <p:txBody>
          <a:bodyPr/>
          <a:lstStyle/>
          <a:p>
            <a:r>
              <a:rPr lang="en-US" sz="1600" b="1" dirty="0"/>
              <a:t>Strong imbalance: BTC 85% Saylor, ETH 64% Buterin – results reflect individual posting styles</a:t>
            </a:r>
          </a:p>
          <a:p>
            <a:r>
              <a:rPr lang="en-US" sz="1600" b="1" dirty="0"/>
              <a:t>DOGE: only 20,820 of 54,274 tweets processed (through Jan 2023), run incomplete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Inference &amp; Prompt Design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5491" y="1425578"/>
            <a:ext cx="11521017" cy="4968875"/>
          </a:xfrm>
        </p:spPr>
        <p:txBody>
          <a:bodyPr/>
          <a:lstStyle/>
          <a:p>
            <a:r>
              <a:rPr lang="en-US" dirty="0"/>
              <a:t>Prompt Engineering</a:t>
            </a:r>
          </a:p>
          <a:p>
            <a:pPr marL="349250" marR="0" lvl="1" indent="-1682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  <a:r>
              <a:rPr kumimoji="0" lang="ko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ssigned the model the role of a crypto market analyzer.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1">
              <a:defRPr/>
            </a:pPr>
            <a:r>
              <a:rPr lang="ko-DE"/>
              <a:t>Provided input data such as the username, tweet text, coin</a:t>
            </a:r>
            <a:r>
              <a:rPr lang="ko-KR" altLang="en-US"/>
              <a:t> </a:t>
            </a:r>
            <a:r>
              <a:rPr lang="en-US" altLang="ko-KR"/>
              <a:t>and</a:t>
            </a:r>
            <a:r>
              <a:rPr lang="ko-DE"/>
              <a:t> date</a:t>
            </a:r>
            <a:r>
              <a:rPr lang="en-US" altLang="ko-KR"/>
              <a:t>.</a:t>
            </a:r>
            <a:endParaRPr lang="de-DE"/>
          </a:p>
          <a:p>
            <a:pPr lvl="1">
              <a:defRPr/>
            </a:pPr>
            <a:r>
              <a:rPr lang="ko-DE"/>
              <a:t>Defined the expected JSON output format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Zero-shot prompt with rules</a:t>
            </a:r>
          </a:p>
          <a:p>
            <a:pPr marL="349250" marR="0" lvl="1" indent="-1682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Added stricter output rules without giving examples.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1">
              <a:defRPr/>
            </a:pPr>
            <a:r>
              <a:rPr lang="ko-DE"/>
              <a:t>The model was forced to choose only one of three labels: </a:t>
            </a:r>
            <a:r>
              <a:rPr lang="ko-DE" b="1"/>
              <a:t>BUY</a:t>
            </a:r>
            <a:r>
              <a:rPr lang="ko-DE"/>
              <a:t>, </a:t>
            </a:r>
            <a:r>
              <a:rPr lang="ko-DE" b="1"/>
              <a:t>SELL</a:t>
            </a:r>
            <a:r>
              <a:rPr lang="ko-DE"/>
              <a:t>, or </a:t>
            </a:r>
            <a:r>
              <a:rPr lang="ko-DE" b="1"/>
              <a:t>NEUTRAL</a:t>
            </a:r>
            <a:r>
              <a:rPr lang="ko-DE"/>
              <a:t>.</a:t>
            </a:r>
            <a:endParaRPr lang="de-DE">
              <a:solidFill>
                <a:srgbClr val="000000"/>
              </a:solidFill>
            </a:endParaRPr>
          </a:p>
          <a:p>
            <a:pPr marL="349250" marR="0" lvl="1" indent="-1682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lang="en-US" dirty="0"/>
          </a:p>
          <a:p>
            <a:r>
              <a:rPr lang="en-US" dirty="0"/>
              <a:t>Few-shot prompt with examples</a:t>
            </a:r>
          </a:p>
          <a:p>
            <a:pPr lvl="1"/>
            <a:r>
              <a:rPr lang="en-US" dirty="0"/>
              <a:t>Positive/negative news, unrelated tweets, vague mentions, hashtag-only promotion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sz="1400" dirty="0" err="1"/>
              <a:t>Example</a:t>
            </a:r>
            <a:r>
              <a:rPr lang="de-DE" sz="1400" dirty="0"/>
              <a:t> 1: </a:t>
            </a:r>
            <a:r>
              <a:rPr lang="en-US" altLang="ko-KR" sz="1400" dirty="0"/>
              <a:t>“</a:t>
            </a:r>
            <a:r>
              <a:rPr lang="de-DE" sz="1400" dirty="0"/>
              <a:t>A </a:t>
            </a:r>
            <a:r>
              <a:rPr lang="de-DE" sz="1400" dirty="0" err="1"/>
              <a:t>major</a:t>
            </a:r>
            <a:r>
              <a:rPr lang="de-DE" sz="1400" dirty="0"/>
              <a:t> </a:t>
            </a:r>
            <a:r>
              <a:rPr lang="de-DE" sz="1400" dirty="0" err="1"/>
              <a:t>bank</a:t>
            </a:r>
            <a:r>
              <a:rPr lang="de-DE" sz="1400" dirty="0"/>
              <a:t> will launch Bitcoin </a:t>
            </a:r>
            <a:r>
              <a:rPr lang="de-DE" sz="1400" dirty="0" err="1"/>
              <a:t>trading</a:t>
            </a:r>
            <a:r>
              <a:rPr lang="de-DE" sz="1400" dirty="0"/>
              <a:t> </a:t>
            </a:r>
            <a:r>
              <a:rPr lang="de-DE" sz="1400" dirty="0" err="1"/>
              <a:t>services</a:t>
            </a:r>
            <a:r>
              <a:rPr lang="de-DE" sz="1400" dirty="0"/>
              <a:t> </a:t>
            </a:r>
            <a:r>
              <a:rPr lang="de-DE" sz="1400" dirty="0" err="1"/>
              <a:t>next</a:t>
            </a:r>
            <a:r>
              <a:rPr lang="de-DE" sz="1400" dirty="0"/>
              <a:t> </a:t>
            </a:r>
            <a:r>
              <a:rPr lang="de-DE" sz="1400" dirty="0" err="1"/>
              <a:t>month</a:t>
            </a:r>
            <a:r>
              <a:rPr lang="de-DE" sz="1400" dirty="0"/>
              <a:t>.</a:t>
            </a:r>
            <a:r>
              <a:rPr lang="en-US" altLang="ko-KR" sz="1400" dirty="0"/>
              <a:t>”</a:t>
            </a:r>
            <a:r>
              <a:rPr lang="de-DE" sz="1400" dirty="0"/>
              <a:t> : </a:t>
            </a:r>
            <a:r>
              <a:rPr lang="de-DE" sz="1400" dirty="0" err="1"/>
              <a:t>signal</a:t>
            </a:r>
            <a:r>
              <a:rPr lang="de-DE" sz="1400" dirty="0"/>
              <a:t> </a:t>
            </a:r>
            <a:r>
              <a:rPr lang="de-DE" sz="1400" dirty="0">
                <a:sym typeface="Wingdings" panose="05000000000000000000" pitchFamily="2" charset="2"/>
              </a:rPr>
              <a:t> BUY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sz="1400" dirty="0" err="1"/>
              <a:t>Example</a:t>
            </a:r>
            <a:r>
              <a:rPr lang="de-DE" sz="1400" dirty="0"/>
              <a:t> 2: </a:t>
            </a:r>
            <a:r>
              <a:rPr lang="en-US" altLang="ko-KR" sz="1400" dirty="0"/>
              <a:t>“</a:t>
            </a:r>
            <a:r>
              <a:rPr lang="de-DE" sz="1400" dirty="0"/>
              <a:t>The </a:t>
            </a:r>
            <a:r>
              <a:rPr lang="de-DE" sz="1400" dirty="0" err="1"/>
              <a:t>government</a:t>
            </a:r>
            <a:r>
              <a:rPr lang="de-DE" sz="1400" dirty="0"/>
              <a:t> </a:t>
            </a:r>
            <a:r>
              <a:rPr lang="de-DE" sz="1400" dirty="0" err="1"/>
              <a:t>has</a:t>
            </a:r>
            <a:r>
              <a:rPr lang="de-DE" sz="1400" dirty="0"/>
              <a:t> </a:t>
            </a:r>
            <a:r>
              <a:rPr lang="de-DE" sz="1400" dirty="0" err="1"/>
              <a:t>banned</a:t>
            </a:r>
            <a:r>
              <a:rPr lang="de-DE" sz="1400" dirty="0"/>
              <a:t> Bitcoin </a:t>
            </a:r>
            <a:r>
              <a:rPr lang="de-DE" sz="1400" dirty="0" err="1"/>
              <a:t>trading</a:t>
            </a:r>
            <a:r>
              <a:rPr lang="de-DE" sz="1400" dirty="0"/>
              <a:t> and </a:t>
            </a:r>
            <a:r>
              <a:rPr lang="de-DE" sz="1400" dirty="0" err="1"/>
              <a:t>ordered</a:t>
            </a:r>
            <a:r>
              <a:rPr lang="de-DE" sz="1400" dirty="0"/>
              <a:t> </a:t>
            </a:r>
            <a:r>
              <a:rPr lang="de-DE" sz="1400" dirty="0" err="1"/>
              <a:t>local</a:t>
            </a:r>
            <a:r>
              <a:rPr lang="de-DE" sz="1400" dirty="0"/>
              <a:t> </a:t>
            </a:r>
            <a:r>
              <a:rPr lang="de-DE" sz="1400" dirty="0" err="1"/>
              <a:t>exchanges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close</a:t>
            </a:r>
            <a:r>
              <a:rPr lang="de-DE" sz="1400" dirty="0"/>
              <a:t>.</a:t>
            </a:r>
            <a:r>
              <a:rPr lang="en-US" altLang="ko-KR" sz="1400" dirty="0"/>
              <a:t>”</a:t>
            </a:r>
            <a:r>
              <a:rPr lang="de-DE" sz="1400" dirty="0"/>
              <a:t> : </a:t>
            </a:r>
            <a:r>
              <a:rPr lang="de-DE" sz="1400" dirty="0" err="1"/>
              <a:t>signal</a:t>
            </a:r>
            <a:r>
              <a:rPr lang="de-DE" sz="1400" dirty="0"/>
              <a:t> </a:t>
            </a:r>
            <a:r>
              <a:rPr lang="de-DE" sz="1400" dirty="0">
                <a:sym typeface="Wingdings" panose="05000000000000000000" pitchFamily="2" charset="2"/>
              </a:rPr>
              <a:t> SELL</a:t>
            </a:r>
            <a:endParaRPr lang="en-US" sz="1400" dirty="0"/>
          </a:p>
          <a:p>
            <a:pPr marL="180975" lvl="1" indent="0">
              <a:buNone/>
            </a:pP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753C16-1829-AE46-78BA-A3ECA71A0A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826" t="18800" r="2674" b="7815"/>
          <a:stretch>
            <a:fillRect/>
          </a:stretch>
        </p:blipFill>
        <p:spPr>
          <a:xfrm>
            <a:off x="10242000" y="4242000"/>
            <a:ext cx="1650000" cy="21634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DEE63C-EE49-62BD-87FC-0DAAA36FE6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38" t="18643" r="38021" b="7973"/>
          <a:stretch>
            <a:fillRect/>
          </a:stretch>
        </p:blipFill>
        <p:spPr>
          <a:xfrm>
            <a:off x="10242000" y="1440000"/>
            <a:ext cx="1650000" cy="26270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82411-7116-78BD-FC9F-EB23ED4D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B0B8A-1E04-3488-0359-314241ED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Inference &amp; Prompt 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FBCF24-7ADD-671E-A53F-127FB8233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91" y="1425578"/>
            <a:ext cx="11521017" cy="496887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Model output per tweet (strict JSON)</a:t>
            </a:r>
          </a:p>
          <a:p>
            <a:pPr lvl="1"/>
            <a:r>
              <a:rPr lang="en-US" dirty="0"/>
              <a:t>signal (BUY / SELL / NEUTRAL), </a:t>
            </a:r>
            <a:br>
              <a:rPr lang="en-US" dirty="0"/>
            </a:br>
            <a:r>
              <a:rPr lang="en-US" dirty="0"/>
              <a:t>impact_strength (0–5), </a:t>
            </a:r>
            <a:br>
              <a:rPr lang="en-US" dirty="0"/>
            </a:br>
            <a:r>
              <a:rPr lang="en-US" dirty="0"/>
              <a:t>confidence (0.0–1.0)</a:t>
            </a:r>
          </a:p>
          <a:p>
            <a:pPr lvl="1"/>
            <a:endParaRPr lang="en-US" dirty="0"/>
          </a:p>
          <a:p>
            <a:r>
              <a:rPr lang="de-DE" dirty="0"/>
              <a:t>C</a:t>
            </a:r>
            <a:r>
              <a:rPr lang="en-US" dirty="0"/>
              <a:t>oin relevance filter</a:t>
            </a:r>
            <a:r>
              <a:rPr lang="ko-KR" altLang="en-US" dirty="0"/>
              <a:t> </a:t>
            </a:r>
            <a:r>
              <a:rPr lang="en-US" dirty="0"/>
              <a:t>is critical for DOGE</a:t>
            </a:r>
            <a:br>
              <a:rPr lang="en-US" dirty="0"/>
            </a:br>
            <a:r>
              <a:rPr lang="en-US" dirty="0"/>
              <a:t>: most Musk tweets are not about Dogecoin</a:t>
            </a:r>
          </a:p>
          <a:p>
            <a:endParaRPr lang="en-US" dirty="0"/>
          </a:p>
          <a:p>
            <a:r>
              <a:rPr lang="en-US" dirty="0"/>
              <a:t>Output validation: </a:t>
            </a:r>
            <a:br>
              <a:rPr lang="en-US" dirty="0"/>
            </a:br>
            <a:r>
              <a:rPr lang="en-US" dirty="0"/>
              <a:t>“BUYSIGNAL” mapped to BUY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0C6055-F38C-2530-9784-7FF5D65541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D6F828CB-124D-71F1-F675-5ED9DF6E2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2747" y="2335895"/>
            <a:ext cx="5853064" cy="314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284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Methodology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tweet matched to minute-level prices at its timestamp</a:t>
            </a:r>
          </a:p>
          <a:p>
            <a:pPr lvl="1"/>
            <a:r>
              <a:rPr lang="en-US" dirty="0"/>
              <a:t>Horizons: 1, 3, 5, 10, 15, 30, 60</a:t>
            </a:r>
            <a:r>
              <a:rPr lang="en-US" altLang="ko-KR" dirty="0"/>
              <a:t>,120,</a:t>
            </a:r>
            <a:r>
              <a:rPr lang="ko-KR" altLang="en-US" dirty="0"/>
              <a:t> </a:t>
            </a:r>
            <a:r>
              <a:rPr lang="en-US" altLang="ko-KR" dirty="0"/>
              <a:t>720,</a:t>
            </a:r>
            <a:r>
              <a:rPr lang="ko-KR" altLang="en-US" dirty="0"/>
              <a:t> </a:t>
            </a:r>
            <a:r>
              <a:rPr lang="en-US" altLang="ko-KR" dirty="0"/>
              <a:t>1440</a:t>
            </a:r>
            <a:r>
              <a:rPr lang="en-US" dirty="0"/>
              <a:t> minutes after the tweet</a:t>
            </a:r>
          </a:p>
          <a:p>
            <a:pPr lvl="1"/>
            <a:endParaRPr lang="en-US" dirty="0"/>
          </a:p>
          <a:p>
            <a:r>
              <a:rPr lang="en-US" dirty="0"/>
              <a:t>Directional accuracy (BUY/SELL tweets only)</a:t>
            </a:r>
          </a:p>
          <a:p>
            <a:pPr lvl="1"/>
            <a:r>
              <a:rPr lang="en-US" dirty="0"/>
              <a:t>Accuracy = correct / (correct + wrong) × 100</a:t>
            </a:r>
          </a:p>
          <a:p>
            <a:pPr lvl="1"/>
            <a:r>
              <a:rPr lang="en-US" dirty="0"/>
              <a:t>Tweets without matching price data are excluded</a:t>
            </a:r>
          </a:p>
          <a:p>
            <a:pPr lvl="1"/>
            <a:endParaRPr lang="en-US" dirty="0"/>
          </a:p>
          <a:p>
            <a:r>
              <a:rPr lang="en-US" dirty="0"/>
              <a:t>Price movement vs. baseline (direction-independent)</a:t>
            </a:r>
          </a:p>
          <a:p>
            <a:pPr lvl="1"/>
            <a:r>
              <a:rPr lang="en-US" dirty="0"/>
              <a:t>Avg. absolute price change rate after tweets vs. full-period and monthly baselines</a:t>
            </a:r>
          </a:p>
          <a:p>
            <a:pPr lvl="1"/>
            <a:endParaRPr lang="en-US" dirty="0"/>
          </a:p>
          <a:p>
            <a:r>
              <a:rPr lang="en-US" dirty="0"/>
              <a:t>Both metrics verified by recomputing summaries from per-tweet event data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DD783F4-6B23-2B0C-7327-CF9CF62F0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96" y="2780928"/>
            <a:ext cx="5180112" cy="366533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Classification Accuracy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100</a:t>
            </a:r>
            <a:r>
              <a:rPr lang="en-US" dirty="0"/>
              <a:t> random tweets, annotated independently by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dirty="0"/>
              <a:t>authors</a:t>
            </a:r>
          </a:p>
          <a:p>
            <a:pPr marL="512762" lvl="1" indent="-342900"/>
            <a:r>
              <a:rPr lang="en-US" altLang="ko-KR" dirty="0"/>
              <a:t>around 70-75</a:t>
            </a:r>
            <a:r>
              <a:rPr lang="en-US" b="0" dirty="0"/>
              <a:t>% </a:t>
            </a:r>
            <a:r>
              <a:rPr lang="ko-DE"/>
              <a:t>similarity</a:t>
            </a:r>
            <a:r>
              <a:rPr lang="en-US" b="0" dirty="0"/>
              <a:t> between LLM classifications and</a:t>
            </a:r>
            <a:r>
              <a:rPr lang="ko-KR" altLang="en-US" b="0" dirty="0"/>
              <a:t> </a:t>
            </a:r>
            <a:r>
              <a:rPr lang="en-US" b="0" dirty="0"/>
              <a:t>human annotations</a:t>
            </a:r>
          </a:p>
          <a:p>
            <a:pPr>
              <a:buNone/>
            </a:pPr>
            <a:endParaRPr lang="en-US" sz="1800" b="0" dirty="0"/>
          </a:p>
          <a:p>
            <a:pPr>
              <a:spcBef>
                <a:spcPts val="1400"/>
              </a:spcBef>
            </a:pPr>
            <a:r>
              <a:rPr lang="en-US" dirty="0"/>
              <a:t>Strengths: clear institutional announcements, filtering out spam</a:t>
            </a:r>
          </a:p>
          <a:p>
            <a:pPr>
              <a:spcBef>
                <a:spcPts val="1400"/>
              </a:spcBef>
            </a:pPr>
            <a:endParaRPr lang="en-US" dirty="0"/>
          </a:p>
          <a:p>
            <a:r>
              <a:rPr lang="en-US" dirty="0"/>
              <a:t>Weaknesses: heavy sarcasm, highly ambiguous slang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Few-shot prompting provides a usable classifier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CBA3D19-9FAE-E3B6-DD76-9E805534F1AF}"/>
              </a:ext>
            </a:extLst>
          </p:cNvPr>
          <p:cNvSpPr txBox="1"/>
          <p:nvPr/>
        </p:nvSpPr>
        <p:spPr>
          <a:xfrm>
            <a:off x="8045031" y="6021288"/>
            <a:ext cx="184730" cy="349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Directional Accuracy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434" y="3720000"/>
            <a:ext cx="11521017" cy="2500000"/>
          </a:xfrm>
        </p:spPr>
        <p:txBody>
          <a:bodyPr/>
          <a:lstStyle/>
          <a:p>
            <a:r>
              <a:rPr lang="en-US" dirty="0"/>
              <a:t>Overall: 48.</a:t>
            </a:r>
            <a:r>
              <a:rPr lang="en-US" altLang="ko-KR" dirty="0"/>
              <a:t>8</a:t>
            </a:r>
            <a:r>
              <a:rPr lang="en-US" dirty="0"/>
              <a:t>–5</a:t>
            </a:r>
            <a:r>
              <a:rPr lang="en-US" altLang="ko-KR" dirty="0"/>
              <a:t>2</a:t>
            </a:r>
            <a:r>
              <a:rPr lang="en-US" dirty="0"/>
              <a:t>.</a:t>
            </a:r>
            <a:r>
              <a:rPr lang="en-US" altLang="ko-KR" dirty="0"/>
              <a:t>4</a:t>
            </a:r>
            <a:r>
              <a:rPr lang="en-US" dirty="0"/>
              <a:t>% across </a:t>
            </a:r>
            <a:r>
              <a:rPr lang="en-US" altLang="ko-KR" dirty="0"/>
              <a:t>23,039</a:t>
            </a:r>
            <a:r>
              <a:rPr lang="ko-KR" altLang="en-US" dirty="0"/>
              <a:t> </a:t>
            </a:r>
            <a:r>
              <a:rPr lang="ko-DE"/>
              <a:t>non-flat directional event</a:t>
            </a:r>
            <a:r>
              <a:rPr lang="en-US" dirty="0"/>
              <a:t>s – near chance level</a:t>
            </a:r>
          </a:p>
          <a:p>
            <a:endParaRPr lang="en-US" dirty="0"/>
          </a:p>
          <a:p>
            <a:r>
              <a:rPr lang="en-US" dirty="0"/>
              <a:t>BTC and Trump are </a:t>
            </a:r>
            <a:r>
              <a:rPr lang="ko-DE"/>
              <a:t>slightly</a:t>
            </a:r>
            <a:r>
              <a:rPr lang="ko-KR" altLang="en-US"/>
              <a:t> </a:t>
            </a:r>
            <a:r>
              <a:rPr lang="ko-DE"/>
              <a:t>above chance</a:t>
            </a:r>
            <a:r>
              <a:rPr lang="de-DE"/>
              <a:t> </a:t>
            </a:r>
            <a:r>
              <a:rPr lang="en-US" dirty="0"/>
              <a:t>(</a:t>
            </a:r>
            <a:r>
              <a:rPr lang="ko-DE"/>
              <a:t>BTC 56.9%, TRUMP 57.5%)</a:t>
            </a:r>
            <a:r>
              <a:rPr lang="en-US" altLang="ko-KR" dirty="0"/>
              <a:t>,</a:t>
            </a:r>
            <a:r>
              <a:rPr lang="en-US" dirty="0"/>
              <a:t> </a:t>
            </a:r>
          </a:p>
          <a:p>
            <a:r>
              <a:rPr lang="ko-DE"/>
              <a:t>but this pattern is not consistent across coins or horizons</a:t>
            </a:r>
          </a:p>
          <a:p>
            <a:endParaRPr lang="en-US" dirty="0"/>
          </a:p>
          <a:p>
            <a:r>
              <a:rPr lang="en-US" dirty="0"/>
              <a:t>Strong BUY skew, SELL barely tested: DOGE 2,</a:t>
            </a:r>
            <a:r>
              <a:rPr lang="en-US" altLang="ko-KR" dirty="0"/>
              <a:t>207</a:t>
            </a:r>
            <a:r>
              <a:rPr lang="en-US" dirty="0"/>
              <a:t> BUY vs. 1</a:t>
            </a:r>
            <a:r>
              <a:rPr lang="en-US" altLang="ko-KR" dirty="0"/>
              <a:t>29</a:t>
            </a:r>
            <a:r>
              <a:rPr lang="en-US" dirty="0"/>
              <a:t> SELL</a:t>
            </a:r>
            <a:r>
              <a:rPr lang="ko-KR" altLang="en-US" dirty="0"/>
              <a:t> </a:t>
            </a:r>
            <a:r>
              <a:rPr lang="de-DE" altLang="ko-KR" dirty="0"/>
              <a:t>overall</a:t>
            </a:r>
            <a:endParaRPr lang="en-US" dirty="0"/>
          </a:p>
        </p:txBody>
      </p:sp>
      <p:graphicFrame>
        <p:nvGraphicFramePr>
          <p:cNvPr id="30" name="Tabel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055568"/>
              </p:ext>
            </p:extLst>
          </p:nvPr>
        </p:nvGraphicFramePr>
        <p:xfrm>
          <a:off x="496004" y="1400000"/>
          <a:ext cx="11199992" cy="1980000"/>
        </p:xfrm>
        <a:graphic>
          <a:graphicData uri="http://schemas.openxmlformats.org/drawingml/2006/table">
            <a:tbl>
              <a:tblPr firstRow="1" bandRow="1"/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72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1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3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5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10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15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30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60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120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360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720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1440 min</a:t>
                      </a:r>
                    </a:p>
                  </a:txBody>
                  <a:tcPr anchor="ctr">
                    <a:solidFill>
                      <a:srgbClr val="005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100" b="1"/>
                        <a:t>BTC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50.83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56.67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56.25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55.83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52.92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58.16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65.00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60.83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64.71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100" b="1"/>
                        <a:t>ETH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51.25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43.21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43.75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48.78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46.34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43.37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46.43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54.22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54.76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59.52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58.33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100" b="1"/>
                        <a:t>DOGE*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52.53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52.04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50.48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51.04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48.64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48.26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49.28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48.04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46.63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47.81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100" b="1"/>
                        <a:t>TRUMP**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53.12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62.86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65.71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50.00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54.05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64.86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62.16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55.00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56.10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53.66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56.10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en-US" sz="1100" b="1"/>
                        <a:t>Overall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52.25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52.44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52.04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51.06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50.79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49.51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48.94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50.55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50.32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48.81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50.21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Movement</a:t>
            </a:r>
            <a:r>
              <a:rPr lang="ko-KR" altLang="en-US" dirty="0"/>
              <a:t> </a:t>
            </a:r>
            <a:r>
              <a:rPr lang="de-DE" altLang="ko-KR" dirty="0"/>
              <a:t>after influencer tweet</a:t>
            </a:r>
            <a:r>
              <a:rPr lang="en-US" dirty="0"/>
              <a:t> vs. usual Movement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434" y="3720000"/>
            <a:ext cx="11521017" cy="2500000"/>
          </a:xfrm>
        </p:spPr>
        <p:txBody>
          <a:bodyPr/>
          <a:lstStyle/>
          <a:p>
            <a:r>
              <a:rPr lang="en-US" dirty="0"/>
              <a:t>Ratio &gt; 1: price moved more than the coin's normal average after tweets</a:t>
            </a:r>
          </a:p>
          <a:p>
            <a:endParaRPr lang="en-US" dirty="0"/>
          </a:p>
          <a:p>
            <a:r>
              <a:rPr lang="ko-DE"/>
              <a:t>TRUMP</a:t>
            </a:r>
            <a:r>
              <a:rPr lang="en-US" altLang="ko-KR"/>
              <a:t>:</a:t>
            </a:r>
            <a:r>
              <a:rPr lang="ko-DE"/>
              <a:t> shows the strongest short-term movement, especially within 3-15 minutes</a:t>
            </a:r>
          </a:p>
          <a:p>
            <a:r>
              <a:rPr lang="ko-DE"/>
              <a:t>DOGE and BTC</a:t>
            </a:r>
            <a:r>
              <a:rPr lang="en-US" altLang="ko-KR"/>
              <a:t>:</a:t>
            </a:r>
            <a:r>
              <a:rPr lang="ko-DE"/>
              <a:t> show elevated movement, but the effect is weaker and more stable</a:t>
            </a:r>
            <a:endParaRPr lang="en-US" dirty="0"/>
          </a:p>
          <a:p>
            <a:r>
              <a:rPr lang="en-US" dirty="0"/>
              <a:t>ETH: no measurable excess – technical accounts, not market movers</a:t>
            </a:r>
          </a:p>
          <a:p>
            <a:endParaRPr lang="en-US" dirty="0"/>
          </a:p>
          <a:p>
            <a:r>
              <a:rPr lang="en-US" dirty="0"/>
              <a:t>Tweets flag elevated market activity even where direction is unpredictable</a:t>
            </a:r>
          </a:p>
        </p:txBody>
      </p:sp>
      <p:graphicFrame>
        <p:nvGraphicFramePr>
          <p:cNvPr id="30" name="Tabel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499699"/>
              </p:ext>
            </p:extLst>
          </p:nvPr>
        </p:nvGraphicFramePr>
        <p:xfrm>
          <a:off x="246000" y="1620000"/>
          <a:ext cx="11700000" cy="1760000"/>
        </p:xfrm>
        <a:graphic>
          <a:graphicData uri="http://schemas.openxmlformats.org/drawingml/2006/table">
            <a:tbl>
              <a:tblPr firstRow="1"/>
              <a:tblGrid>
                <a:gridCol w="8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Coin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1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3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5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10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15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30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60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120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360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720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1440 min</a:t>
                      </a:r>
                    </a:p>
                  </a:txBody>
                  <a:tcPr marL="36000" marR="36000" marT="18000" marB="18000" anchor="ctr">
                    <a:solidFill>
                      <a:srgbClr val="005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 rowSpan="2">
                  <a:txBody>
                    <a:bodyPr/>
                    <a:lstStyle/>
                    <a:p>
                      <a:pPr algn="l"/>
                      <a:r>
                        <a:rPr lang="en-US" sz="900" b="1"/>
                        <a:t>BTC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/>
                        <a:t>monthly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1.16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1.05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1.23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1.14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1.18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1.15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1.14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1.07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1.09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1.02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1.10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00">
                <a:tc vMerge="1">
                  <a:txBody>
                    <a:bodyPr/>
                    <a:lstStyle/>
                    <a:p>
                      <a:endParaRPr lang="en-US" sz="900"/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/>
                        <a:t>overall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1.28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1.16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1.36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1.28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1.33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1.29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1.26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1.20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1.20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1.11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1.19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00">
                <a:tc rowSpan="2">
                  <a:txBody>
                    <a:bodyPr/>
                    <a:lstStyle/>
                    <a:p>
                      <a:pPr algn="l"/>
                      <a:r>
                        <a:rPr lang="en-US" sz="900" b="1"/>
                        <a:t>ETH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/>
                        <a:t>monthly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0.93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0.97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0.91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1.06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0.96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1.05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1.02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0.81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0.84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0.88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0.90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00">
                <a:tc vMerge="1">
                  <a:txBody>
                    <a:bodyPr/>
                    <a:lstStyle/>
                    <a:p>
                      <a:endParaRPr lang="en-US" sz="900"/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/>
                        <a:t>overall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0.89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0.93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0.87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1.01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0.92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1.00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0.96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0.76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0.80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0.84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0.86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00">
                <a:tc rowSpan="2">
                  <a:txBody>
                    <a:bodyPr/>
                    <a:lstStyle/>
                    <a:p>
                      <a:pPr algn="l"/>
                      <a:r>
                        <a:rPr lang="en-US" sz="900" b="1"/>
                        <a:t>DOGE*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/>
                        <a:t>monthly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1.35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1.32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1.35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1.29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1.30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1.27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1.16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1.12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1.11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1.20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1.37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00">
                <a:tc vMerge="1">
                  <a:txBody>
                    <a:bodyPr/>
                    <a:lstStyle/>
                    <a:p>
                      <a:endParaRPr lang="en-US" sz="900"/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/>
                        <a:t>overall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1.52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1.49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1.51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1.43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1.44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1.41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1.30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1.25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1.23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1.34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1.54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00">
                <a:tc rowSpan="2">
                  <a:txBody>
                    <a:bodyPr/>
                    <a:lstStyle/>
                    <a:p>
                      <a:pPr algn="l"/>
                      <a:r>
                        <a:rPr lang="en-US" sz="900" b="1"/>
                        <a:t>TRUMP**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/>
                        <a:t>monthly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1.59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1.88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1.96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1.70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1.86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1.42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1.23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1.19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1.20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0.93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0.69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00">
                <a:tc vMerge="1">
                  <a:txBody>
                    <a:bodyPr/>
                    <a:lstStyle/>
                    <a:p>
                      <a:endParaRPr lang="en-US" sz="900"/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/>
                        <a:t>overall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1.85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2.20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2.31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2.00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2.20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1.68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1.46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1.42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1.42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1.11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/>
                        <a:t>0.82</a:t>
                      </a:r>
                    </a:p>
                  </a:txBody>
                  <a:tcPr marL="36000" marR="36000" marT="18000" marB="18000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  <a:p>
            <a:pPr lvl="1"/>
            <a:r>
              <a:rPr lang="en-US" dirty="0"/>
              <a:t>LLM understands crypto language: </a:t>
            </a:r>
            <a:r>
              <a:rPr lang="de-DE" dirty="0"/>
              <a:t>around</a:t>
            </a:r>
            <a:r>
              <a:rPr lang="en-US" dirty="0"/>
              <a:t> </a:t>
            </a:r>
            <a:r>
              <a:rPr lang="de-DE" dirty="0"/>
              <a:t>70-75</a:t>
            </a:r>
            <a:r>
              <a:rPr lang="en-US" dirty="0"/>
              <a:t>% agreement with human annotation</a:t>
            </a:r>
          </a:p>
          <a:p>
            <a:pPr lvl="1"/>
            <a:r>
              <a:rPr lang="en-US" dirty="0"/>
              <a:t>Directional accuracy near chance, BTC exception likely dataset composition</a:t>
            </a:r>
          </a:p>
          <a:p>
            <a:pPr lvl="1"/>
            <a:r>
              <a:rPr lang="en-US" dirty="0"/>
              <a:t>Robust finding: elevated short-term volatility after influencer tweets </a:t>
            </a:r>
          </a:p>
          <a:p>
            <a:pPr lvl="1"/>
            <a:r>
              <a:rPr lang="en-US" dirty="0"/>
              <a:t>Influencer tweets are better signals of increased market activity than of price direction.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Future work</a:t>
            </a:r>
          </a:p>
          <a:p>
            <a:pPr lvl="1"/>
            <a:r>
              <a:rPr lang="en-US" dirty="0"/>
              <a:t>Conduct coin-specific analysis and interpretation to account for differences between BTC, DOGE, and other assets</a:t>
            </a:r>
          </a:p>
          <a:p>
            <a:pPr lvl="1"/>
            <a:r>
              <a:rPr lang="en-US" dirty="0"/>
              <a:t>Introduce an information-origin filter to distinguish between original influencer content and tweets that merely forward external news</a:t>
            </a:r>
          </a:p>
          <a:p>
            <a:pPr lvl="1"/>
            <a:r>
              <a:rPr lang="en-US" dirty="0"/>
              <a:t>Further investigate whether pre-filtering rules or scoring formulas </a:t>
            </a:r>
            <a:r>
              <a:rPr lang="de-DE" dirty="0"/>
              <a:t>might</a:t>
            </a:r>
            <a:r>
              <a:rPr lang="en-US" dirty="0"/>
              <a:t> improve directional accuracy</a:t>
            </a:r>
          </a:p>
          <a:p>
            <a:pPr lvl="1"/>
            <a:r>
              <a:rPr lang="en-US" dirty="0"/>
              <a:t>Live X API integration (exceeded project budget this term)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A07462-AD2B-0D43-89B6-EBC60183C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A26402-DE60-7B40-A12E-185701730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900" b="0" dirty="0"/>
              <a:t>[1] M. Cary, “Down with the dogefather: Evidence of a cryptocurrency responding in real time to a crypto-tastemaker,” 2021. [Online]. Available: https://www.researchgate.net/publication/354391025</a:t>
            </a:r>
          </a:p>
          <a:p>
            <a:pPr>
              <a:buNone/>
            </a:pPr>
            <a:r>
              <a:rPr lang="en-US" sz="900" b="0" dirty="0"/>
              <a:t>[2] B. T. Nguyen, T. T. Chu, S. X. Ha, and A. T. Nguyen, “Decoding market sentiment: the power of ChatGPT in explaining Bitcoin returns from X data,” 2025. [Online]. Available: https://doi.org/10.1108/CFRI-05-2024-0278</a:t>
            </a:r>
          </a:p>
          <a:p>
            <a:pPr>
              <a:buNone/>
            </a:pPr>
            <a:r>
              <a:rPr lang="en-US" sz="900" b="0" dirty="0"/>
              <a:t>[3] A. Lopez-Lira and Y. Tang, “Can ChatGPT forecast stock price movements? Return predictability and large language models,” 2023. [Online]. Available: https://arxiv.org/abs/2304.07619</a:t>
            </a:r>
          </a:p>
          <a:p>
            <a:pPr>
              <a:buNone/>
            </a:pPr>
            <a:r>
              <a:rPr lang="en-US" sz="900" b="0" dirty="0"/>
              <a:t>[4] S. Wu, O. Irsoy, S. Lu, V. Dabravolski, M. Dredze, P. Kambadur, D. Rosenberg, and A. Abdelkhalek, “BloombergGPT: A large language model for finance,” 2023. [Online]. Available: https://arxiv.org/abs/2303.17564</a:t>
            </a:r>
          </a:p>
          <a:p>
            <a:pPr>
              <a:buNone/>
            </a:pPr>
            <a:r>
              <a:rPr lang="en-US" sz="900" b="0" dirty="0"/>
              <a:t>[5] D. Maynard and M. A. Greenwood, “Who cares about sarcastic tweets? Investigating the impact of sarcasm on sentiment analysis,” pp. 4238–4243, 2014. [Online]. Available: https://aclanthology.org/L14-1102</a:t>
            </a:r>
          </a:p>
          <a:p>
            <a:pPr>
              <a:buNone/>
            </a:pPr>
            <a:r>
              <a:rPr lang="en-US" sz="900" b="0" dirty="0"/>
              <a:t>[6] F. Haase, T. Celig, O. Rath, and D. Schoder, “Wisdom of the crowd signals: Predictive power of social media trading signals for cryptocurrencies,” 2025. [Online]. Available: https://doi.org/10.1007/s12525-025-00815-6</a:t>
            </a:r>
          </a:p>
          <a:p>
            <a:pPr>
              <a:buNone/>
            </a:pPr>
            <a:r>
              <a:rPr lang="en-US" sz="900" b="0" dirty="0"/>
              <a:t>[7] R. Lupu and P. C. Donoiu, “Sentiment matters for cryptocurrencies: Evidence from tweets,” 2025. [Online]. Available: https://www.mdpi.com/2306-5729/10/4/50</a:t>
            </a:r>
          </a:p>
          <a:p>
            <a:pPr>
              <a:buNone/>
            </a:pPr>
            <a:r>
              <a:rPr lang="en-US" sz="900" b="0" dirty="0"/>
              <a:t>[8] Meta, “Introducing Llama 3.1,” 2024. [Online]. Available: https://ai.meta.com/blog/meta-llama-3-1/</a:t>
            </a:r>
          </a:p>
          <a:p>
            <a:pPr>
              <a:buNone/>
            </a:pPr>
            <a:r>
              <a:rPr lang="en-US" sz="900" b="0" dirty="0"/>
              <a:t>[9] Ollama Team, 2023. [Online]. Available: https://github.com/ollama/ollama</a:t>
            </a:r>
          </a:p>
          <a:p>
            <a:pPr>
              <a:buNone/>
            </a:pPr>
            <a:r>
              <a:rPr lang="en-US" sz="900" b="0" dirty="0"/>
              <a:t>[10] Binance, “Binance public data archive.” [Online]. Available: https://data.binance.vision/?prefix=data/spot/daily/klines/</a:t>
            </a:r>
          </a:p>
          <a:p>
            <a:pPr>
              <a:buNone/>
            </a:pPr>
            <a:r>
              <a:rPr lang="en-US" sz="900" b="0" dirty="0"/>
              <a:t>[11] A. Garg, T. Shah, V. K. Jain, and R. Sharma, “CrypTop12: A dataset for cryptocurrency price movement prediction from tweets and historical prices,” pp. 379–384, 2021. [Online]. Available: https://github.com/am15h/CrypTop12</a:t>
            </a:r>
          </a:p>
          <a:p>
            <a:pPr>
              <a:buNone/>
            </a:pPr>
            <a:r>
              <a:rPr lang="en-US" sz="900" b="0" dirty="0"/>
              <a:t>[12] kevsde, “Bitcoin tweets dataset,” 2022. [Online]. Available: https://www.kaggle.com/datasets/kevsde/bitcoin-tweets</a:t>
            </a:r>
          </a:p>
          <a:p>
            <a:pPr>
              <a:buNone/>
            </a:pPr>
            <a:r>
              <a:rPr lang="en-US" sz="900" b="0" dirty="0"/>
              <a:t>[13] G. Chettiar, “Bitcoin sentiment analysis,” 2025. [Online]. Available: https://www.kaggle.com/datasets/gautamchettiar/bitcoin-sentiment-analysis-twitter-data</a:t>
            </a:r>
          </a:p>
          <a:p>
            <a:pPr>
              <a:buNone/>
            </a:pPr>
            <a:r>
              <a:rPr lang="en-US" sz="900" b="0" dirty="0"/>
              <a:t>[14] L. Dada, “Elon Musk tweets 2010 to 2025 March,” 2026. [Online]. Available: https://www.kaggle.com/datasets/dadalyndell/elon-musk-tweets-2010-to-2025-march/versions/10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083F99-6845-6742-9298-DF90D91986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alt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D63D7-138D-D271-0C67-A10FD3DB9D0C}"/>
              </a:ext>
            </a:extLst>
          </p:cNvPr>
          <p:cNvSpPr txBox="1"/>
          <p:nvPr/>
        </p:nvSpPr>
        <p:spPr>
          <a:xfrm>
            <a:off x="4203864" y="1045029"/>
            <a:ext cx="184731" cy="349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DE"/>
          </a:p>
        </p:txBody>
      </p:sp>
    </p:spTree>
    <p:extLst>
      <p:ext uri="{BB962C8B-B14F-4D97-AF65-F5344CB8AC3E}">
        <p14:creationId xmlns:p14="http://schemas.microsoft.com/office/powerpoint/2010/main" val="3020207785"/>
      </p:ext>
    </p:extLst>
  </p:cSld>
  <p:clrMapOvr>
    <a:masterClrMapping/>
  </p:clrMapOvr>
</p:sld>
</file>

<file path=ppt/theme/theme1.xml><?xml version="1.0" encoding="utf-8"?>
<a:theme xmlns:a="http://schemas.openxmlformats.org/drawingml/2006/main" name="H0">
  <a:themeElements>
    <a:clrScheme name="H0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DCA00"/>
      </a:accent1>
      <a:accent2>
        <a:srgbClr val="005AA9"/>
      </a:accent2>
      <a:accent3>
        <a:srgbClr val="FFFFFF"/>
      </a:accent3>
      <a:accent4>
        <a:srgbClr val="000000"/>
      </a:accent4>
      <a:accent5>
        <a:srgbClr val="FEE1AA"/>
      </a:accent5>
      <a:accent6>
        <a:srgbClr val="005199"/>
      </a:accent6>
      <a:hlink>
        <a:srgbClr val="005AA9"/>
      </a:hlink>
      <a:folHlink>
        <a:srgbClr val="B5B5B5"/>
      </a:folHlink>
    </a:clrScheme>
    <a:fontScheme name="H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49263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panose="020B0604020202020204" pitchFamily="34" charset="0"/>
          <a:buNone/>
          <a:tabLst/>
          <a:defRPr kumimoji="0" lang="en-US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49263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panose="020B0604020202020204" pitchFamily="34" charset="0"/>
          <a:buNone/>
          <a:tabLst/>
          <a:defRPr kumimoji="0" lang="en-US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H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DCA00"/>
        </a:accent1>
        <a:accent2>
          <a:srgbClr val="005AA9"/>
        </a:accent2>
        <a:accent3>
          <a:srgbClr val="FFFFFF"/>
        </a:accent3>
        <a:accent4>
          <a:srgbClr val="000000"/>
        </a:accent4>
        <a:accent5>
          <a:srgbClr val="FEE1AA"/>
        </a:accent5>
        <a:accent6>
          <a:srgbClr val="005199"/>
        </a:accent6>
        <a:hlink>
          <a:srgbClr val="005AA9"/>
        </a:hlink>
        <a:folHlink>
          <a:srgbClr val="B5B5B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1">
  <a:themeElements>
    <a:clrScheme name="H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DCA00"/>
      </a:accent1>
      <a:accent2>
        <a:srgbClr val="005AA9"/>
      </a:accent2>
      <a:accent3>
        <a:srgbClr val="FFFFFF"/>
      </a:accent3>
      <a:accent4>
        <a:srgbClr val="000000"/>
      </a:accent4>
      <a:accent5>
        <a:srgbClr val="FEE1AA"/>
      </a:accent5>
      <a:accent6>
        <a:srgbClr val="005199"/>
      </a:accent6>
      <a:hlink>
        <a:srgbClr val="005AA9"/>
      </a:hlink>
      <a:folHlink>
        <a:srgbClr val="B5B5B5"/>
      </a:folHlink>
    </a:clrScheme>
    <a:fontScheme name="H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49263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panose="020B0604020202020204" pitchFamily="34" charset="0"/>
          <a:buNone/>
          <a:tabLst/>
          <a:defRPr kumimoji="0" lang="en-US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49263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panose="020B0604020202020204" pitchFamily="34" charset="0"/>
          <a:buNone/>
          <a:tabLst/>
          <a:defRPr kumimoji="0" lang="en-US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H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DCA00"/>
        </a:accent1>
        <a:accent2>
          <a:srgbClr val="005AA9"/>
        </a:accent2>
        <a:accent3>
          <a:srgbClr val="FFFFFF"/>
        </a:accent3>
        <a:accent4>
          <a:srgbClr val="000000"/>
        </a:accent4>
        <a:accent5>
          <a:srgbClr val="FEE1AA"/>
        </a:accent5>
        <a:accent6>
          <a:srgbClr val="005199"/>
        </a:accent6>
        <a:hlink>
          <a:srgbClr val="005AA9"/>
        </a:hlink>
        <a:folHlink>
          <a:srgbClr val="B5B5B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H2">
  <a:themeElements>
    <a:clrScheme name="H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DCA00"/>
      </a:accent1>
      <a:accent2>
        <a:srgbClr val="005AA9"/>
      </a:accent2>
      <a:accent3>
        <a:srgbClr val="FFFFFF"/>
      </a:accent3>
      <a:accent4>
        <a:srgbClr val="000000"/>
      </a:accent4>
      <a:accent5>
        <a:srgbClr val="FEE1AA"/>
      </a:accent5>
      <a:accent6>
        <a:srgbClr val="005199"/>
      </a:accent6>
      <a:hlink>
        <a:srgbClr val="005AA9"/>
      </a:hlink>
      <a:folHlink>
        <a:srgbClr val="B5B5B5"/>
      </a:folHlink>
    </a:clrScheme>
    <a:fontScheme name="H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49263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panose="020B0604020202020204" pitchFamily="34" charset="0"/>
          <a:buNone/>
          <a:tabLst/>
          <a:defRPr kumimoji="0" lang="en-US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49263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panose="020B0604020202020204" pitchFamily="34" charset="0"/>
          <a:buNone/>
          <a:tabLst/>
          <a:defRPr kumimoji="0" lang="en-US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H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DCA00"/>
        </a:accent1>
        <a:accent2>
          <a:srgbClr val="005AA9"/>
        </a:accent2>
        <a:accent3>
          <a:srgbClr val="FFFFFF"/>
        </a:accent3>
        <a:accent4>
          <a:srgbClr val="000000"/>
        </a:accent4>
        <a:accent5>
          <a:srgbClr val="FEE1AA"/>
        </a:accent5>
        <a:accent6>
          <a:srgbClr val="005199"/>
        </a:accent6>
        <a:hlink>
          <a:srgbClr val="005AA9"/>
        </a:hlink>
        <a:folHlink>
          <a:srgbClr val="B5B5B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HC">
  <a:themeElements>
    <a:clrScheme name="H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DCA00"/>
      </a:accent1>
      <a:accent2>
        <a:srgbClr val="005AA9"/>
      </a:accent2>
      <a:accent3>
        <a:srgbClr val="FFFFFF"/>
      </a:accent3>
      <a:accent4>
        <a:srgbClr val="000000"/>
      </a:accent4>
      <a:accent5>
        <a:srgbClr val="FEE1AA"/>
      </a:accent5>
      <a:accent6>
        <a:srgbClr val="005199"/>
      </a:accent6>
      <a:hlink>
        <a:srgbClr val="005AA9"/>
      </a:hlink>
      <a:folHlink>
        <a:srgbClr val="B5B5B5"/>
      </a:folHlink>
    </a:clrScheme>
    <a:fontScheme name="H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49263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panose="020B0604020202020204" pitchFamily="34" charset="0"/>
          <a:buNone/>
          <a:tabLst/>
          <a:defRPr kumimoji="0" lang="en-US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49263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panose="020B0604020202020204" pitchFamily="34" charset="0"/>
          <a:buNone/>
          <a:tabLst/>
          <a:defRPr kumimoji="0" lang="en-US" alt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H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DCA00"/>
        </a:accent1>
        <a:accent2>
          <a:srgbClr val="005AA9"/>
        </a:accent2>
        <a:accent3>
          <a:srgbClr val="FFFFFF"/>
        </a:accent3>
        <a:accent4>
          <a:srgbClr val="000000"/>
        </a:accent4>
        <a:accent5>
          <a:srgbClr val="FEE1AA"/>
        </a:accent5>
        <a:accent6>
          <a:srgbClr val="005199"/>
        </a:accent6>
        <a:hlink>
          <a:srgbClr val="005AA9"/>
        </a:hlink>
        <a:folHlink>
          <a:srgbClr val="B5B5B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</Template>
  <TotalTime>1672</TotalTime>
  <Words>1978</Words>
  <Application>Microsoft Macintosh PowerPoint</Application>
  <PresentationFormat>와이드스크린</PresentationFormat>
  <Paragraphs>362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Stafford</vt:lpstr>
      <vt:lpstr>Arial</vt:lpstr>
      <vt:lpstr>Symbol</vt:lpstr>
      <vt:lpstr>Times New Roman</vt:lpstr>
      <vt:lpstr>Wingdings</vt:lpstr>
      <vt:lpstr>H0</vt:lpstr>
      <vt:lpstr>H1</vt:lpstr>
      <vt:lpstr>H2</vt:lpstr>
      <vt:lpstr>HC</vt:lpstr>
      <vt:lpstr>LLM-Based Crypto Market Signal Detection from X</vt:lpstr>
      <vt:lpstr>Motivation &amp; Research Question</vt:lpstr>
      <vt:lpstr>Three Core Challenges</vt:lpstr>
      <vt:lpstr>Related Work</vt:lpstr>
      <vt:lpstr>From Daily Signals to Per-Tweet Analysis</vt:lpstr>
      <vt:lpstr>System Overview: Four-Stage Pipeline</vt:lpstr>
      <vt:lpstr>Data: Influencer Selection &amp; Datasets</vt:lpstr>
      <vt:lpstr>LLM Inference &amp; Prompt Design</vt:lpstr>
      <vt:lpstr>LLM Inference &amp; Prompt Design</vt:lpstr>
      <vt:lpstr>Evaluation Methodology</vt:lpstr>
      <vt:lpstr>LLM Classification Accuracy</vt:lpstr>
      <vt:lpstr>Directional Accuracy</vt:lpstr>
      <vt:lpstr>Price Movement after influencer tweet vs. usual Movement</vt:lpstr>
      <vt:lpstr>Conclusion &amp; Future Work</vt:lpstr>
      <vt:lpstr>Sources</vt:lpstr>
    </vt:vector>
  </TitlesOfParts>
  <Company>none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Titel / the Titel</dc:title>
  <dc:creator>mhollick</dc:creator>
  <cp:lastModifiedBy>Frankfurter Gemeinde</cp:lastModifiedBy>
  <cp:revision>998</cp:revision>
  <dcterms:created xsi:type="dcterms:W3CDTF">2008-11-14T08:02:31Z</dcterms:created>
  <dcterms:modified xsi:type="dcterms:W3CDTF">2026-07-08T20:35:12Z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D">
    <vt:lpwstr>c94f4970-b10d-4c27-9ab4-7585ca7bbcd8</vt:lpwstr>
  </property>
</Properties>
</file>