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0275213" cy="42811700"/>
  <p:notesSz cx="9799638" cy="1435576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873" indent="190883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3991" indent="379520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69863" indent="570402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7981" indent="759039" algn="l" rtl="0" fontAlgn="base">
      <a:spcBef>
        <a:spcPct val="0"/>
      </a:spcBef>
      <a:spcAft>
        <a:spcPct val="0"/>
      </a:spcAft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3233776" algn="l" defTabSz="646755" rtl="0" eaLnBrk="1" latinLnBrk="0" hangingPunct="1"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3880531" algn="l" defTabSz="646755" rtl="0" eaLnBrk="1" latinLnBrk="0" hangingPunct="1"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4527286" algn="l" defTabSz="646755" rtl="0" eaLnBrk="1" latinLnBrk="0" hangingPunct="1"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5174041" algn="l" defTabSz="646755" rtl="0" eaLnBrk="1" latinLnBrk="0" hangingPunct="1">
      <a:defRPr sz="8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601">
          <p15:clr>
            <a:srgbClr val="A4A3A4"/>
          </p15:clr>
        </p15:guide>
        <p15:guide id="2" orient="horz" pos="25415">
          <p15:clr>
            <a:srgbClr val="A4A3A4"/>
          </p15:clr>
        </p15:guide>
        <p15:guide id="3" pos="18379">
          <p15:clr>
            <a:srgbClr val="A4A3A4"/>
          </p15:clr>
        </p15:guide>
        <p15:guide id="4" pos="692">
          <p15:clr>
            <a:srgbClr val="A4A3A4"/>
          </p15:clr>
        </p15:guide>
        <p15:guide id="5" pos="6588">
          <p15:clr>
            <a:srgbClr val="A4A3A4"/>
          </p15:clr>
        </p15:guide>
        <p15:guide id="6" pos="12483">
          <p15:clr>
            <a:srgbClr val="A4A3A4"/>
          </p15:clr>
        </p15:guide>
        <p15:guide id="7" pos="18334">
          <p15:clr>
            <a:srgbClr val="A4A3A4"/>
          </p15:clr>
        </p15:guide>
        <p15:guide id="8" pos="71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08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rsten Saller" initials="KS" lastIdx="1" clrIdx="0"/>
  <p:cmAuthor id="1" name="Aneta Kabzeva" initials="AnKa" lastIdx="6" clrIdx="1"/>
  <p:cmAuthor id="2" name="Matthias Hollick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B050"/>
    <a:srgbClr val="FFC000"/>
    <a:srgbClr val="D61111"/>
    <a:srgbClr val="FFFFFF"/>
    <a:srgbClr val="F8BAA6"/>
    <a:srgbClr val="C0C0C0"/>
    <a:srgbClr val="B2B2B2"/>
    <a:srgbClr val="0099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1" autoAdjust="0"/>
    <p:restoredTop sz="95082" autoAdjust="0"/>
  </p:normalViewPr>
  <p:slideViewPr>
    <p:cSldViewPr>
      <p:cViewPr>
        <p:scale>
          <a:sx n="33" d="100"/>
          <a:sy n="33" d="100"/>
        </p:scale>
        <p:origin x="3684" y="-942"/>
      </p:cViewPr>
      <p:guideLst>
        <p:guide orient="horz" pos="22601"/>
        <p:guide orient="horz" pos="25415"/>
        <p:guide pos="18379"/>
        <p:guide pos="692"/>
        <p:guide pos="6588"/>
        <p:guide pos="12483"/>
        <p:guide pos="18334"/>
        <p:guide pos="717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21" d="100"/>
          <a:sy n="21" d="100"/>
        </p:scale>
        <p:origin x="-3720" y="-126"/>
      </p:cViewPr>
      <p:guideLst>
        <p:guide orient="horz" pos="4522"/>
        <p:guide pos="30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246649" cy="718004"/>
          </a:xfrm>
          <a:prstGeom prst="rect">
            <a:avLst/>
          </a:prstGeom>
        </p:spPr>
        <p:txBody>
          <a:bodyPr vert="horz" lIns="30603" tIns="15302" rIns="30603" bIns="15302" rtlCol="0"/>
          <a:lstStyle>
            <a:lvl1pPr algn="l">
              <a:defRPr sz="400"/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50905" y="2"/>
            <a:ext cx="4246649" cy="718004"/>
          </a:xfrm>
          <a:prstGeom prst="rect">
            <a:avLst/>
          </a:prstGeom>
        </p:spPr>
        <p:txBody>
          <a:bodyPr vert="horz" lIns="30603" tIns="15302" rIns="30603" bIns="15302" rtlCol="0"/>
          <a:lstStyle>
            <a:lvl1pPr algn="r">
              <a:defRPr sz="400"/>
            </a:lvl1pPr>
          </a:lstStyle>
          <a:p>
            <a:fld id="{9A00CFE2-FDD3-48A0-8BA4-9C7A3E9543B1}" type="datetimeFigureOut">
              <a:rPr lang="de-DE" smtClean="0"/>
              <a:pPr/>
              <a:t>23.05.2026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3635609"/>
            <a:ext cx="4246649" cy="717464"/>
          </a:xfrm>
          <a:prstGeom prst="rect">
            <a:avLst/>
          </a:prstGeom>
        </p:spPr>
        <p:txBody>
          <a:bodyPr vert="horz" lIns="30603" tIns="15302" rIns="30603" bIns="15302" rtlCol="0" anchor="b"/>
          <a:lstStyle>
            <a:lvl1pPr algn="l">
              <a:defRPr sz="400"/>
            </a:lvl1pPr>
          </a:lstStyle>
          <a:p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50905" y="13635609"/>
            <a:ext cx="4246649" cy="717464"/>
          </a:xfrm>
          <a:prstGeom prst="rect">
            <a:avLst/>
          </a:prstGeom>
        </p:spPr>
        <p:txBody>
          <a:bodyPr vert="horz" lIns="30603" tIns="15302" rIns="30603" bIns="15302" rtlCol="0" anchor="b"/>
          <a:lstStyle>
            <a:lvl1pPr algn="r">
              <a:defRPr sz="400"/>
            </a:lvl1pPr>
          </a:lstStyle>
          <a:p>
            <a:fld id="{F59CAC82-69DD-4598-8A25-EF55C93ABD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7002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245083" cy="71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t" anchorCtr="0" compatLnSpc="1">
            <a:prstTxWarp prst="textNoShape">
              <a:avLst/>
            </a:prstTxWarp>
          </a:bodyPr>
          <a:lstStyle>
            <a:lvl1pPr defTabSz="1322996">
              <a:defRPr sz="1700"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49863" y="2"/>
            <a:ext cx="4247691" cy="71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t" anchorCtr="0" compatLnSpc="1">
            <a:prstTxWarp prst="textNoShape">
              <a:avLst/>
            </a:prstTxWarp>
          </a:bodyPr>
          <a:lstStyle>
            <a:lvl1pPr algn="r" defTabSz="1322996">
              <a:defRPr sz="1700"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95613" y="1076325"/>
            <a:ext cx="3808412" cy="538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9234" y="6819958"/>
            <a:ext cx="7841170" cy="6458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13635611"/>
            <a:ext cx="4245083" cy="71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b" anchorCtr="0" compatLnSpc="1">
            <a:prstTxWarp prst="textNoShape">
              <a:avLst/>
            </a:prstTxWarp>
          </a:bodyPr>
          <a:lstStyle>
            <a:lvl1pPr defTabSz="1322996">
              <a:defRPr sz="1700"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49863" y="13635611"/>
            <a:ext cx="4247691" cy="71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2226" tIns="66112" rIns="132226" bIns="66112" numCol="1" anchor="b" anchorCtr="0" compatLnSpc="1">
            <a:prstTxWarp prst="textNoShape">
              <a:avLst/>
            </a:prstTxWarp>
          </a:bodyPr>
          <a:lstStyle>
            <a:lvl1pPr algn="r" defTabSz="1322996">
              <a:defRPr sz="1700">
                <a:cs typeface="+mn-cs"/>
              </a:defRPr>
            </a:lvl1pPr>
          </a:lstStyle>
          <a:p>
            <a:pPr>
              <a:defRPr/>
            </a:pPr>
            <a:fld id="{5E780477-EF57-2946-9C72-5BF4856CB47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76824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873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3991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69863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981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633" algn="l" defTabSz="91425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2759" algn="l" defTabSz="91425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99886" algn="l" defTabSz="91425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013" algn="l" defTabSz="914253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48659" indent="-95638"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382553" indent="-76510"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535575" indent="-76510"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688594" indent="-76510" defTabSz="1322996" eaLnBrk="0" hangingPunct="0"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841617" indent="-76510" defTabSz="132299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94636" indent="-76510" defTabSz="132299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147657" indent="-76510" defTabSz="132299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300678" indent="-76510" defTabSz="1322996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02668AB-7CEC-8E41-AB32-D9D448AEE20B}" type="slidenum">
              <a:rPr lang="de-DE" sz="1700"/>
              <a:pPr eaLnBrk="1" hangingPunct="1"/>
              <a:t>1</a:t>
            </a:fld>
            <a:endParaRPr lang="de-DE" sz="1700" dirty="0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95613" y="1076325"/>
            <a:ext cx="3808412" cy="5384800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6155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5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Line 9"/>
          <p:cNvSpPr>
            <a:spLocks noChangeShapeType="1"/>
          </p:cNvSpPr>
          <p:nvPr userDrawn="1"/>
        </p:nvSpPr>
        <p:spPr bwMode="auto">
          <a:xfrm flipV="1">
            <a:off x="1036320" y="1840784"/>
            <a:ext cx="28144554" cy="0"/>
          </a:xfrm>
          <a:prstGeom prst="line">
            <a:avLst/>
          </a:prstGeom>
          <a:noFill/>
          <a:ln w="603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6" tIns="45713" rIns="91426" bIns="45713"/>
          <a:lstStyle/>
          <a:p>
            <a:endParaRPr lang="en-US" dirty="0"/>
          </a:p>
        </p:txBody>
      </p:sp>
      <p:sp>
        <p:nvSpPr>
          <p:cNvPr id="1028" name="Line 10"/>
          <p:cNvSpPr>
            <a:spLocks noChangeShapeType="1"/>
          </p:cNvSpPr>
          <p:nvPr userDrawn="1"/>
        </p:nvSpPr>
        <p:spPr bwMode="auto">
          <a:xfrm flipV="1">
            <a:off x="1036320" y="6135198"/>
            <a:ext cx="28143888" cy="17986"/>
          </a:xfrm>
          <a:prstGeom prst="line">
            <a:avLst/>
          </a:prstGeom>
          <a:noFill/>
          <a:ln w="279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6" tIns="45713" rIns="91426" bIns="45713"/>
          <a:lstStyle/>
          <a:p>
            <a:endParaRPr lang="en-US" dirty="0"/>
          </a:p>
        </p:txBody>
      </p:sp>
      <p:sp>
        <p:nvSpPr>
          <p:cNvPr id="1029" name="Line 11"/>
          <p:cNvSpPr>
            <a:spLocks noChangeShapeType="1"/>
          </p:cNvSpPr>
          <p:nvPr userDrawn="1"/>
        </p:nvSpPr>
        <p:spPr bwMode="auto">
          <a:xfrm flipV="1">
            <a:off x="1026926" y="40920018"/>
            <a:ext cx="28149453" cy="0"/>
          </a:xfrm>
          <a:prstGeom prst="line">
            <a:avLst/>
          </a:prstGeom>
          <a:noFill/>
          <a:ln w="279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6" tIns="45713" rIns="91426" bIns="45713"/>
          <a:lstStyle/>
          <a:p>
            <a:endParaRPr lang="en-US" dirty="0"/>
          </a:p>
        </p:txBody>
      </p:sp>
      <p:sp>
        <p:nvSpPr>
          <p:cNvPr id="1031" name="Line 27"/>
          <p:cNvSpPr>
            <a:spLocks noChangeShapeType="1"/>
          </p:cNvSpPr>
          <p:nvPr userDrawn="1"/>
        </p:nvSpPr>
        <p:spPr bwMode="auto">
          <a:xfrm flipV="1">
            <a:off x="1043940" y="7724559"/>
            <a:ext cx="28136934" cy="0"/>
          </a:xfrm>
          <a:prstGeom prst="line">
            <a:avLst/>
          </a:prstGeom>
          <a:noFill/>
          <a:ln w="2794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26" tIns="45713" rIns="91426" bIns="45713"/>
          <a:lstStyle/>
          <a:p>
            <a:endParaRPr lang="en-US" dirty="0"/>
          </a:p>
        </p:txBody>
      </p:sp>
      <p:graphicFrame>
        <p:nvGraphicFramePr>
          <p:cNvPr id="14" name="Objekt 4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779645151"/>
              </p:ext>
            </p:extLst>
          </p:nvPr>
        </p:nvGraphicFramePr>
        <p:xfrm>
          <a:off x="22735047" y="2540074"/>
          <a:ext cx="6268371" cy="28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091521" imgH="3471054" progId="Visio.Drawing.11">
                  <p:embed/>
                </p:oleObj>
              </mc:Choice>
              <mc:Fallback>
                <p:oleObj name="Visio" r:id="rId3" imgW="8091521" imgH="3471054" progId="Visio.Drawing.11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5047" y="2540074"/>
                        <a:ext cx="6268371" cy="288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 userDrawn="1"/>
        </p:nvSpPr>
        <p:spPr bwMode="auto">
          <a:xfrm>
            <a:off x="1026926" y="1079778"/>
            <a:ext cx="28153948" cy="5769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lIns="91426" tIns="45713" rIns="91426" bIns="45713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8992A1-160B-783B-3B48-B5F2D41DDB91}"/>
              </a:ext>
            </a:extLst>
          </p:cNvPr>
          <p:cNvSpPr txBox="1"/>
          <p:nvPr userDrawn="1"/>
        </p:nvSpPr>
        <p:spPr>
          <a:xfrm>
            <a:off x="24383364" y="41104097"/>
            <a:ext cx="4793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Communication Networks Lab (KOM)</a:t>
            </a:r>
          </a:p>
          <a:p>
            <a:r>
              <a:rPr lang="de-DE" sz="2000" dirty="0"/>
              <a:t>Technical University </a:t>
            </a:r>
            <a:r>
              <a:rPr lang="de-DE" sz="2000" dirty="0" err="1"/>
              <a:t>of</a:t>
            </a:r>
            <a:r>
              <a:rPr lang="de-DE" sz="2000" dirty="0"/>
              <a:t> Darmstadt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defTabSz="417471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127" algn="ctr" defTabSz="4176042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6pPr>
      <a:lvl7pPr marL="914253" algn="ctr" defTabSz="4176042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7pPr>
      <a:lvl8pPr marL="1371380" algn="ctr" defTabSz="4176042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8pPr>
      <a:lvl9pPr marL="1828506" algn="ctr" defTabSz="4176042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9pPr>
    </p:titleStyle>
    <p:bodyStyle>
      <a:lvl1pPr marL="1565238" indent="-1565238" algn="l" defTabSz="4174715" rtl="0" eaLnBrk="0" fontAlgn="base" hangingPunct="0">
        <a:spcBef>
          <a:spcPct val="20000"/>
        </a:spcBef>
        <a:spcAft>
          <a:spcPct val="0"/>
        </a:spcAft>
        <a:buChar char="•"/>
        <a:defRPr sz="146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393219" indent="-1304739" algn="l" defTabSz="4174715" rtl="0" eaLnBrk="0" fontAlgn="base" hangingPunct="0">
        <a:spcBef>
          <a:spcPct val="20000"/>
        </a:spcBef>
        <a:spcAft>
          <a:spcPct val="0"/>
        </a:spcAft>
        <a:buChar char="–"/>
        <a:defRPr sz="12700">
          <a:solidFill>
            <a:schemeClr val="tx1"/>
          </a:solidFill>
          <a:latin typeface="+mn-lt"/>
          <a:ea typeface="ＭＳ Ｐゴシック" charset="0"/>
        </a:defRPr>
      </a:lvl2pPr>
      <a:lvl3pPr marL="5218955" indent="-1044241" algn="l" defTabSz="4174715" rtl="0" eaLnBrk="0" fontAlgn="base" hangingPunct="0">
        <a:spcBef>
          <a:spcPct val="20000"/>
        </a:spcBef>
        <a:spcAft>
          <a:spcPct val="0"/>
        </a:spcAft>
        <a:buChar char="•"/>
        <a:defRPr sz="11000">
          <a:solidFill>
            <a:schemeClr val="tx1"/>
          </a:solidFill>
          <a:latin typeface="+mn-lt"/>
          <a:ea typeface="ＭＳ Ｐゴシック" charset="0"/>
        </a:defRPr>
      </a:lvl3pPr>
      <a:lvl4pPr marL="7307435" indent="-1044241" algn="l" defTabSz="4174715" rtl="0" eaLnBrk="0" fontAlgn="base" hangingPunct="0">
        <a:spcBef>
          <a:spcPct val="20000"/>
        </a:spcBef>
        <a:spcAft>
          <a:spcPct val="0"/>
        </a:spcAft>
        <a:buChar char="–"/>
        <a:defRPr sz="9100">
          <a:solidFill>
            <a:schemeClr val="tx1"/>
          </a:solidFill>
          <a:latin typeface="+mn-lt"/>
          <a:ea typeface="ＭＳ Ｐゴシック" charset="0"/>
        </a:defRPr>
      </a:lvl4pPr>
      <a:lvl5pPr marL="9393670" indent="-1041994" algn="l" defTabSz="4174715" rtl="0" eaLnBrk="0" fontAlgn="base" hangingPunct="0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  <a:ea typeface="ＭＳ Ｐゴシック" charset="0"/>
        </a:defRPr>
      </a:lvl5pPr>
      <a:lvl6pPr marL="9852030" indent="-1042820" algn="l" defTabSz="4176042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6pPr>
      <a:lvl7pPr marL="10309156" indent="-1042820" algn="l" defTabSz="4176042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7pPr>
      <a:lvl8pPr marL="10766283" indent="-1042820" algn="l" defTabSz="4176042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8pPr>
      <a:lvl9pPr marL="11223410" indent="-1042820" algn="l" defTabSz="4176042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7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80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06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3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59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86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13" algn="l" defTabSz="9142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StephanAkkerman/financial-twee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data.mendeley.com/datasets/x7yvshrnxy/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angle 1958"/>
          <p:cNvSpPr>
            <a:spLocks noChangeArrowheads="1"/>
          </p:cNvSpPr>
          <p:nvPr/>
        </p:nvSpPr>
        <p:spPr bwMode="auto">
          <a:xfrm>
            <a:off x="1096044" y="8156378"/>
            <a:ext cx="28115576" cy="8352928"/>
          </a:xfrm>
          <a:prstGeom prst="rect">
            <a:avLst/>
          </a:prstGeom>
          <a:noFill/>
          <a:ln w="1270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0" tIns="1008000" rIns="91426" bIns="144000" numCol="1" anchor="t"/>
          <a:lstStyle/>
          <a:p>
            <a:r>
              <a:rPr lang="en-US" sz="3600" b="1" dirty="0"/>
              <a:t>Motivation </a:t>
            </a:r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Market </a:t>
            </a:r>
            <a:r>
              <a:rPr lang="de-DE" sz="3600" b="1" dirty="0" err="1"/>
              <a:t>Vulnerability</a:t>
            </a:r>
            <a:r>
              <a:rPr lang="de-DE" sz="3600" b="1" dirty="0"/>
              <a:t>: </a:t>
            </a:r>
            <a:r>
              <a:rPr lang="en-US" sz="3600" dirty="0"/>
              <a:t>While cryptocurrencies are popular investments, the markets are actually highly fragile and volatile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 err="1"/>
              <a:t>Social</a:t>
            </a:r>
            <a:r>
              <a:rPr lang="de-DE" sz="3600" b="1" dirty="0"/>
              <a:t> Media Impact: </a:t>
            </a:r>
            <a:r>
              <a:rPr lang="en-US" sz="3600" dirty="0"/>
              <a:t>Public figures and influencers possess considerable power over market trends, </a:t>
            </a:r>
          </a:p>
          <a:p>
            <a:r>
              <a:rPr lang="en-US" sz="3600" dirty="0"/>
              <a:t>					   where a single social media post can trigger financial shifts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Project </a:t>
            </a:r>
            <a:r>
              <a:rPr lang="de-DE" sz="3600" b="1" dirty="0" err="1"/>
              <a:t>Objective</a:t>
            </a:r>
            <a:r>
              <a:rPr lang="de-DE" sz="3600" b="1" dirty="0"/>
              <a:t>: </a:t>
            </a:r>
            <a:r>
              <a:rPr lang="en-US" sz="3600" dirty="0"/>
              <a:t>The goal is to apply Large Language Models (LLMs) to filter influential posts </a:t>
            </a:r>
          </a:p>
          <a:p>
            <a:r>
              <a:rPr lang="en-US" sz="3600" dirty="0"/>
              <a:t>				      and evaluate their exact impact on the market.</a:t>
            </a:r>
            <a:endParaRPr lang="de-DE" sz="3600" b="1" dirty="0"/>
          </a:p>
          <a:p>
            <a:endParaRPr lang="de-DE" sz="3600" b="1" dirty="0">
              <a:sym typeface="Wingdings" panose="05000000000000000000" pitchFamily="2" charset="2"/>
            </a:endParaRPr>
          </a:p>
          <a:p>
            <a:r>
              <a:rPr lang="de-DE" sz="3600" b="1" dirty="0">
                <a:sym typeface="Wingdings" panose="05000000000000000000" pitchFamily="2" charset="2"/>
              </a:rPr>
              <a:t>Other Motivation</a:t>
            </a:r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Personal Experience: </a:t>
            </a:r>
            <a:r>
              <a:rPr lang="en-US" sz="3600" dirty="0"/>
              <a:t>Experiencing firsthand how influencer hype (like Elon Musk and Dogecoin) directly </a:t>
            </a:r>
          </a:p>
          <a:p>
            <a:r>
              <a:rPr lang="en-US" sz="3600" dirty="0"/>
              <a:t>					    drives individual investment decisions.</a:t>
            </a:r>
            <a:endParaRPr lang="de-DE" sz="3600" b="1" dirty="0"/>
          </a:p>
          <a:p>
            <a:endParaRPr lang="de-DE" sz="3600" dirty="0"/>
          </a:p>
          <a:p>
            <a:endParaRPr lang="de-DE" sz="3600" dirty="0">
              <a:sym typeface="Wingdings" panose="05000000000000000000" pitchFamily="2" charset="2"/>
            </a:endParaRPr>
          </a:p>
          <a:p>
            <a:endParaRPr lang="de-DE" sz="3600" b="1" dirty="0"/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3074" name="Text Box 1449"/>
          <p:cNvSpPr txBox="1">
            <a:spLocks noChangeArrowheads="1"/>
          </p:cNvSpPr>
          <p:nvPr/>
        </p:nvSpPr>
        <p:spPr bwMode="auto">
          <a:xfrm>
            <a:off x="1098834" y="6195810"/>
            <a:ext cx="28077545" cy="152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 anchor="ctr"/>
          <a:lstStyle>
            <a:lvl1pPr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4500" b="1" dirty="0" err="1"/>
              <a:t>Yeseok</a:t>
            </a:r>
            <a:r>
              <a:rPr lang="en-US" sz="4500" b="1" dirty="0"/>
              <a:t> Bae, Emircan Haslak</a:t>
            </a:r>
            <a:br>
              <a:rPr lang="en-US" sz="4500" dirty="0"/>
            </a:br>
            <a:r>
              <a:rPr lang="en-US" sz="4500" dirty="0"/>
              <a:t>Communication Networks Lab — Lab/Project Summer 2026, Technical University of Darmstadt</a:t>
            </a:r>
            <a:endParaRPr lang="en-US" sz="4500" i="1" dirty="0"/>
          </a:p>
        </p:txBody>
      </p:sp>
      <p:sp>
        <p:nvSpPr>
          <p:cNvPr id="503" name="Text Box 1959"/>
          <p:cNvSpPr txBox="1">
            <a:spLocks noChangeArrowheads="1"/>
          </p:cNvSpPr>
          <p:nvPr/>
        </p:nvSpPr>
        <p:spPr bwMode="auto">
          <a:xfrm>
            <a:off x="1063593" y="8139747"/>
            <a:ext cx="3357899" cy="781167"/>
          </a:xfrm>
          <a:prstGeom prst="rect">
            <a:avLst/>
          </a:prstGeom>
          <a:solidFill>
            <a:srgbClr val="0070C0"/>
          </a:solidFill>
          <a:ln w="25400">
            <a:noFill/>
            <a:miter lim="800000"/>
            <a:headEnd/>
            <a:tailEnd/>
          </a:ln>
        </p:spPr>
        <p:txBody>
          <a:bodyPr wrap="none" lIns="179971" tIns="43906" rIns="287953" bIns="43906">
            <a:spAutoFit/>
          </a:bodyPr>
          <a:lstStyle>
            <a:lvl1pPr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64" name="Text Box 1443"/>
          <p:cNvSpPr txBox="1">
            <a:spLocks noChangeArrowheads="1"/>
          </p:cNvSpPr>
          <p:nvPr/>
        </p:nvSpPr>
        <p:spPr bwMode="auto">
          <a:xfrm>
            <a:off x="1135604" y="2046455"/>
            <a:ext cx="21744289" cy="38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 anchor="ctr"/>
          <a:lstStyle>
            <a:lvl1pPr marL="65088" indent="-65088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176713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4176713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6500" b="1" kern="0" dirty="0">
                <a:latin typeface="Arial"/>
              </a:rPr>
              <a:t>LLM-Based Crypto Market Signal Detection from X</a:t>
            </a:r>
            <a:endParaRPr lang="en-US" sz="6500" dirty="0"/>
          </a:p>
        </p:txBody>
      </p:sp>
      <p:sp>
        <p:nvSpPr>
          <p:cNvPr id="15" name="Textfeld 14"/>
          <p:cNvSpPr txBox="1"/>
          <p:nvPr/>
        </p:nvSpPr>
        <p:spPr>
          <a:xfrm>
            <a:off x="1175324" y="16176141"/>
            <a:ext cx="3973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[AAL+18]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458" name="Gruppieren 457">
            <a:extLst>
              <a:ext uri="{FF2B5EF4-FFF2-40B4-BE49-F238E27FC236}">
                <a16:creationId xmlns:a16="http://schemas.microsoft.com/office/drawing/2014/main" id="{E8D91748-22AD-4DBF-B863-CDAC8CAC3592}"/>
              </a:ext>
            </a:extLst>
          </p:cNvPr>
          <p:cNvGrpSpPr/>
          <p:nvPr/>
        </p:nvGrpSpPr>
        <p:grpSpPr>
          <a:xfrm>
            <a:off x="1104274" y="41076737"/>
            <a:ext cx="22458268" cy="1511905"/>
            <a:chOff x="1125312" y="39242236"/>
            <a:chExt cx="18602771" cy="1484662"/>
          </a:xfrm>
        </p:grpSpPr>
        <p:sp>
          <p:nvSpPr>
            <p:cNvPr id="6" name="Textfeld 5"/>
            <p:cNvSpPr txBox="1"/>
            <p:nvPr/>
          </p:nvSpPr>
          <p:spPr>
            <a:xfrm>
              <a:off x="1227705" y="39744932"/>
              <a:ext cx="18500378" cy="906693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1428750" indent="-1428750"/>
              <a:r>
                <a:rPr lang="de-DE" sz="1800" b="1" dirty="0">
                  <a:solidFill>
                    <a:schemeClr val="bg1">
                      <a:lumMod val="50000"/>
                    </a:schemeClr>
                  </a:solidFill>
                </a:rPr>
                <a:t>[ABC20] </a:t>
              </a:r>
              <a:r>
                <a:rPr lang="de-DE" sz="1800" b="1" dirty="0">
                  <a:solidFill>
                    <a:schemeClr val="bg1">
                      <a:lumMod val="65000"/>
                    </a:schemeClr>
                  </a:solidFill>
                </a:rPr>
                <a:t>	</a:t>
              </a:r>
              <a:r>
                <a:rPr lang="de-DE" sz="1800" dirty="0"/>
                <a:t>Stephan Akkerman. "Financial Tweets Dataset." </a:t>
              </a:r>
              <a:r>
                <a:rPr lang="de-DE" sz="1800" dirty="0" err="1"/>
                <a:t>Hugging</a:t>
              </a:r>
              <a:r>
                <a:rPr lang="de-DE" sz="1800" dirty="0"/>
                <a:t> Face, 2023. </a:t>
              </a:r>
              <a:r>
                <a:rPr lang="de-DE" sz="1800" dirty="0">
                  <a:hlinkClick r:id="rId3"/>
                </a:rPr>
                <a:t>https://huggingface.co/datasets/StephanAkkerman/financial-tweets</a:t>
              </a:r>
              <a:endParaRPr lang="en-US" sz="1800" dirty="0"/>
            </a:p>
            <a:p>
              <a:pPr marL="1428750" indent="-1428750"/>
              <a:r>
                <a:rPr lang="en-US" sz="1800" b="1" dirty="0">
                  <a:solidFill>
                    <a:schemeClr val="bg1">
                      <a:lumMod val="50000"/>
                    </a:schemeClr>
                  </a:solidFill>
                </a:rPr>
                <a:t>[ABC21] 	</a:t>
              </a:r>
              <a:r>
                <a:rPr lang="de-DE" sz="1800" dirty="0"/>
                <a:t>Mendeley Data. "</a:t>
              </a:r>
              <a:r>
                <a:rPr lang="de-DE" sz="1800" dirty="0" err="1"/>
                <a:t>Cryptocurrency</a:t>
              </a:r>
              <a:r>
                <a:rPr lang="de-DE" sz="1800" dirty="0"/>
                <a:t> Sentiment Analysis Dataset." Mendeley Data, 2020. </a:t>
              </a:r>
              <a:r>
                <a:rPr lang="de-DE" sz="1800">
                  <a:hlinkClick r:id="rId4"/>
                </a:rPr>
                <a:t>https://data.mendeley.com/datasets/x7yvshrnxy/1</a:t>
              </a:r>
              <a:endParaRPr lang="en-US" sz="1800" dirty="0"/>
            </a:p>
            <a:p>
              <a:pPr marL="1428750" indent="-1428750"/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8" name="Rectangle 1958"/>
            <p:cNvSpPr>
              <a:spLocks noChangeArrowheads="1"/>
            </p:cNvSpPr>
            <p:nvPr/>
          </p:nvSpPr>
          <p:spPr bwMode="auto">
            <a:xfrm>
              <a:off x="1125312" y="39256220"/>
              <a:ext cx="18436808" cy="1470678"/>
            </a:xfrm>
            <a:prstGeom prst="rect">
              <a:avLst/>
            </a:prstGeom>
            <a:noFill/>
            <a:ln w="127000">
              <a:solidFill>
                <a:srgbClr val="DDDDD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360000" tIns="1008000" rIns="91426" bIns="144000" numCol="1" anchor="t"/>
            <a:lstStyle/>
            <a:p>
              <a:endParaRPr lang="en-US" sz="3600" dirty="0"/>
            </a:p>
            <a:p>
              <a:endParaRPr lang="en-US" sz="3600" dirty="0"/>
            </a:p>
          </p:txBody>
        </p:sp>
        <p:sp>
          <p:nvSpPr>
            <p:cNvPr id="111" name="Text Box 1959"/>
            <p:cNvSpPr txBox="1">
              <a:spLocks noChangeArrowheads="1"/>
            </p:cNvSpPr>
            <p:nvPr/>
          </p:nvSpPr>
          <p:spPr bwMode="auto">
            <a:xfrm>
              <a:off x="1167264" y="39242236"/>
              <a:ext cx="1680970" cy="449748"/>
            </a:xfrm>
            <a:prstGeom prst="rect">
              <a:avLst/>
            </a:prstGeom>
            <a:solidFill>
              <a:srgbClr val="DDDDDD"/>
            </a:solidFill>
            <a:ln w="25400">
              <a:solidFill>
                <a:srgbClr val="DDDDDD"/>
              </a:solidFill>
              <a:miter lim="800000"/>
              <a:headEnd/>
              <a:tailEnd/>
            </a:ln>
          </p:spPr>
          <p:txBody>
            <a:bodyPr wrap="square" lIns="179971" tIns="43906" rIns="287953" bIns="43906">
              <a:spAutoFit/>
            </a:bodyPr>
            <a:lstStyle>
              <a:lvl1pPr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defTabSz="3829050" eaLnBrk="0" hangingPunct="0"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defTabSz="3829050" eaLnBrk="0" fontAlgn="base" hangingPunct="0">
                <a:spcBef>
                  <a:spcPct val="0"/>
                </a:spcBef>
                <a:spcAft>
                  <a:spcPct val="0"/>
                </a:spcAft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defTabSz="3829050" eaLnBrk="0" fontAlgn="base" hangingPunct="0">
                <a:spcBef>
                  <a:spcPct val="0"/>
                </a:spcBef>
                <a:spcAft>
                  <a:spcPct val="0"/>
                </a:spcAft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defTabSz="3829050" eaLnBrk="0" fontAlgn="base" hangingPunct="0">
                <a:spcBef>
                  <a:spcPct val="0"/>
                </a:spcBef>
                <a:spcAft>
                  <a:spcPct val="0"/>
                </a:spcAft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defTabSz="3829050" eaLnBrk="0" fontAlgn="base" hangingPunct="0">
                <a:spcBef>
                  <a:spcPct val="0"/>
                </a:spcBef>
                <a:spcAft>
                  <a:spcPct val="0"/>
                </a:spcAft>
                <a:defRPr sz="5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de-DE" sz="2400" b="1" dirty="0"/>
                <a:t>Resources</a:t>
              </a:r>
              <a:endParaRPr lang="en-US" sz="2400" b="1" dirty="0"/>
            </a:p>
          </p:txBody>
        </p:sp>
      </p:grpSp>
      <p:sp>
        <p:nvSpPr>
          <p:cNvPr id="219" name="Rectangle 1958">
            <a:extLst>
              <a:ext uri="{FF2B5EF4-FFF2-40B4-BE49-F238E27FC236}">
                <a16:creationId xmlns:a16="http://schemas.microsoft.com/office/drawing/2014/main" id="{8847867A-D2B2-45E0-AD8B-00C5696D5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044" y="16732561"/>
            <a:ext cx="28115576" cy="4673290"/>
          </a:xfrm>
          <a:prstGeom prst="rect">
            <a:avLst/>
          </a:prstGeom>
          <a:noFill/>
          <a:ln w="1270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0" tIns="1008000" rIns="91426" bIns="144000" numCol="1" anchor="t"/>
          <a:lstStyle/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Data Source: </a:t>
            </a:r>
            <a:r>
              <a:rPr lang="en-US" sz="3600" dirty="0"/>
              <a:t>We automatically get a list of recent tweets about cryptocurrencies from online dataset sources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AI Analysis (</a:t>
            </a:r>
            <a:r>
              <a:rPr lang="de-DE" sz="3600" b="1" dirty="0" err="1"/>
              <a:t>Llama</a:t>
            </a:r>
            <a:r>
              <a:rPr lang="de-DE" sz="3600" b="1" dirty="0"/>
              <a:t> 3.1): </a:t>
            </a:r>
            <a:r>
              <a:rPr lang="en-US" sz="3600" dirty="0"/>
              <a:t>We send the text of each tweet to a powerful AI model that reads it just like a human would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 err="1"/>
              <a:t>Result</a:t>
            </a:r>
            <a:r>
              <a:rPr lang="de-DE" sz="3600" b="1" dirty="0"/>
              <a:t>: </a:t>
            </a:r>
            <a:r>
              <a:rPr lang="de-DE" sz="3600" dirty="0"/>
              <a:t>The AI </a:t>
            </a:r>
            <a:r>
              <a:rPr lang="de-DE" sz="3600" dirty="0" err="1"/>
              <a:t>classifies</a:t>
            </a:r>
            <a:r>
              <a:rPr lang="de-DE" sz="3600" dirty="0"/>
              <a:t>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sentiment</a:t>
            </a:r>
            <a:r>
              <a:rPr lang="de-DE" sz="3600" dirty="0"/>
              <a:t>: </a:t>
            </a:r>
            <a:r>
              <a:rPr lang="en-US" sz="3600" dirty="0"/>
              <a:t>Is it positive ("BUY") , neutral (“NEUTRAL”) or negative ("SELL")?</a:t>
            </a:r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en-US" sz="3600" b="1" dirty="0"/>
              <a:t>Detection: </a:t>
            </a:r>
            <a:r>
              <a:rPr lang="en-US" sz="3600" dirty="0"/>
              <a:t>Identifying posts that could potentially trigger market movements (e.g. Like/Retweet counts)</a:t>
            </a:r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en-US" sz="3600" b="1" dirty="0"/>
              <a:t>Confirmation: </a:t>
            </a:r>
            <a:r>
              <a:rPr lang="en-US" sz="3600" dirty="0"/>
              <a:t>Evaluating historical price data to verify whether a specific post actually caused a measurable impact </a:t>
            </a:r>
          </a:p>
          <a:p>
            <a:r>
              <a:rPr lang="en-US" sz="3600" dirty="0"/>
              <a:t>                           on the cryptocurrency market.</a:t>
            </a:r>
            <a:endParaRPr lang="de-DE" sz="3600" dirty="0"/>
          </a:p>
          <a:p>
            <a:endParaRPr lang="de-DE" sz="3600" b="1" dirty="0">
              <a:sym typeface="Wingdings" panose="05000000000000000000" pitchFamily="2" charset="2"/>
            </a:endParaRPr>
          </a:p>
          <a:p>
            <a:endParaRPr lang="de-DE" sz="3600" dirty="0">
              <a:sym typeface="Wingdings" panose="05000000000000000000" pitchFamily="2" charset="2"/>
            </a:endParaRPr>
          </a:p>
          <a:p>
            <a:endParaRPr lang="de-DE" sz="3600" b="1" dirty="0"/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239" name="Text Box 1959">
            <a:extLst>
              <a:ext uri="{FF2B5EF4-FFF2-40B4-BE49-F238E27FC236}">
                <a16:creationId xmlns:a16="http://schemas.microsoft.com/office/drawing/2014/main" id="{980F1CD9-E55A-4005-AB6D-3F8BD4F88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604" y="16797210"/>
            <a:ext cx="4896782" cy="781167"/>
          </a:xfrm>
          <a:prstGeom prst="rect">
            <a:avLst/>
          </a:prstGeom>
          <a:solidFill>
            <a:srgbClr val="0070C0"/>
          </a:solidFill>
          <a:ln w="25400">
            <a:noFill/>
            <a:miter lim="800000"/>
            <a:headEnd/>
            <a:tailEnd/>
          </a:ln>
        </p:spPr>
        <p:txBody>
          <a:bodyPr wrap="none" lIns="179971" tIns="43906" rIns="287953" bIns="43906">
            <a:spAutoFit/>
          </a:bodyPr>
          <a:lstStyle>
            <a:lvl1pPr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dirty="0">
                <a:solidFill>
                  <a:schemeClr val="bg1"/>
                </a:solidFill>
              </a:rPr>
              <a:t>Implementation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FAAC1F-6F42-5CF2-D1CA-397120E55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66" y="21617100"/>
            <a:ext cx="14761640" cy="1014878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FBA5523-1F1E-C844-3B6F-E2CB632CE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7606" y="21924291"/>
            <a:ext cx="14074013" cy="9841595"/>
          </a:xfrm>
          <a:prstGeom prst="rect">
            <a:avLst/>
          </a:prstGeom>
        </p:spPr>
      </p:pic>
      <p:sp>
        <p:nvSpPr>
          <p:cNvPr id="7" name="Rectangle 1958">
            <a:extLst>
              <a:ext uri="{FF2B5EF4-FFF2-40B4-BE49-F238E27FC236}">
                <a16:creationId xmlns:a16="http://schemas.microsoft.com/office/drawing/2014/main" id="{8FAD64B4-9324-BD90-9FD2-CBD0A793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604" y="31780127"/>
            <a:ext cx="28115576" cy="4673290"/>
          </a:xfrm>
          <a:prstGeom prst="rect">
            <a:avLst/>
          </a:prstGeom>
          <a:noFill/>
          <a:ln w="1270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0" tIns="1008000" rIns="91426" bIns="144000" numCol="1" anchor="t"/>
          <a:lstStyle/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Scale Up: </a:t>
            </a:r>
            <a:r>
              <a:rPr lang="en-US" sz="3600" dirty="0"/>
              <a:t>The next phase will expand the processing pipeline from the initial 500-tweet sample </a:t>
            </a:r>
            <a:endParaRPr lang="de-DE" sz="3600" b="1" dirty="0"/>
          </a:p>
          <a:p>
            <a:pPr marL="354013" indent="-354013">
              <a:buFont typeface="Wingdings" panose="05000000000000000000" pitchFamily="2" charset="2"/>
              <a:buChar char="§"/>
            </a:pPr>
            <a:r>
              <a:rPr lang="de-DE" sz="3600" b="1" dirty="0"/>
              <a:t>Price Correlation: </a:t>
            </a:r>
            <a:r>
              <a:rPr lang="en-US" sz="3600" dirty="0"/>
              <a:t>Future work will focus on overlaying these generated AI sentiment signals with </a:t>
            </a:r>
          </a:p>
          <a:p>
            <a:r>
              <a:rPr lang="en-US" sz="3600" dirty="0"/>
              <a:t>                                  actual historical cryptocurrency price charts to evaluate the true predictive power of social media trends</a:t>
            </a:r>
          </a:p>
          <a:p>
            <a:endParaRPr lang="de-DE" sz="3600" b="1" dirty="0"/>
          </a:p>
          <a:p>
            <a:endParaRPr lang="de-DE" sz="3600" b="1" dirty="0">
              <a:sym typeface="Wingdings" panose="05000000000000000000" pitchFamily="2" charset="2"/>
            </a:endParaRPr>
          </a:p>
          <a:p>
            <a:endParaRPr lang="de-DE" sz="3600" dirty="0">
              <a:sym typeface="Wingdings" panose="05000000000000000000" pitchFamily="2" charset="2"/>
            </a:endParaRPr>
          </a:p>
          <a:p>
            <a:endParaRPr lang="de-DE" sz="3600" b="1" dirty="0"/>
          </a:p>
          <a:p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sp>
        <p:nvSpPr>
          <p:cNvPr id="9" name="Text Box 1959">
            <a:extLst>
              <a:ext uri="{FF2B5EF4-FFF2-40B4-BE49-F238E27FC236}">
                <a16:creationId xmlns:a16="http://schemas.microsoft.com/office/drawing/2014/main" id="{A39749CB-3163-A1C2-AAD5-E6EA6CB38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604" y="31790366"/>
            <a:ext cx="3860409" cy="781167"/>
          </a:xfrm>
          <a:prstGeom prst="rect">
            <a:avLst/>
          </a:prstGeom>
          <a:solidFill>
            <a:srgbClr val="0070C0"/>
          </a:solidFill>
          <a:ln w="25400">
            <a:noFill/>
            <a:miter lim="800000"/>
            <a:headEnd/>
            <a:tailEnd/>
          </a:ln>
        </p:spPr>
        <p:txBody>
          <a:bodyPr wrap="none" lIns="179971" tIns="43906" rIns="287953" bIns="43906">
            <a:spAutoFit/>
          </a:bodyPr>
          <a:lstStyle>
            <a:lvl1pPr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3829050" eaLnBrk="0" hangingPunct="0"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3829050" eaLnBrk="0" fontAlgn="base" hangingPunct="0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4500" b="1" dirty="0">
                <a:solidFill>
                  <a:schemeClr val="bg1"/>
                </a:solidFill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324765708"/>
      </p:ext>
    </p:extLst>
  </p:cSld>
  <p:clrMapOvr>
    <a:masterClrMapping/>
  </p:clrMapOvr>
</p:sld>
</file>

<file path=ppt/theme/theme1.xml><?xml version="1.0" encoding="utf-8"?>
<a:theme xmlns:a="http://schemas.openxmlformats.org/drawingml/2006/main" name="Poster_LC_2008_neues_Layout">
  <a:themeElements>
    <a:clrScheme name="Poster_LC_2008_neues_Layo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oster_LC_2008_neues_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8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8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oster_LC_2008_neues_Layo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ster_LC_2008_neues_Layo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oster_LC_2008_neues_Layo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Poster_LC_2008_neues_Layout</Template>
  <TotalTime>0</TotalTime>
  <Words>364</Words>
  <Application>Microsoft Office PowerPoint</Application>
  <PresentationFormat>Benutzerdefiniert</PresentationFormat>
  <Paragraphs>39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Wingdings</vt:lpstr>
      <vt:lpstr>Poster_LC_2008_neues_Layout</vt:lpstr>
      <vt:lpstr>Visio</vt:lpstr>
      <vt:lpstr>PowerPoint-Präsentation</vt:lpstr>
    </vt:vector>
  </TitlesOfParts>
  <Company>TUD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</dc:title>
  <dc:creator>christian damm</dc:creator>
  <cp:lastModifiedBy>Emircan Haslak</cp:lastModifiedBy>
  <cp:revision>1083</cp:revision>
  <cp:lastPrinted>2022-02-23T14:37:04Z</cp:lastPrinted>
  <dcterms:created xsi:type="dcterms:W3CDTF">2008-05-08T14:55:42Z</dcterms:created>
  <dcterms:modified xsi:type="dcterms:W3CDTF">2026-05-23T13:13:42Z</dcterms:modified>
</cp:coreProperties>
</file>