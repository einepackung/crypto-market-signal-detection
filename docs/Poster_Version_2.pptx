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0275213" cy="42811700"/>
  <p:notesSz cx="9799638" cy="1435576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873" indent="190883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3991" indent="37952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69863" indent="570402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7981" indent="759039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233776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880531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527286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5174041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601">
          <p15:clr>
            <a:srgbClr val="A4A3A4"/>
          </p15:clr>
        </p15:guide>
        <p15:guide id="2" orient="horz" pos="25415">
          <p15:clr>
            <a:srgbClr val="A4A3A4"/>
          </p15:clr>
        </p15:guide>
        <p15:guide id="3" pos="18379">
          <p15:clr>
            <a:srgbClr val="A4A3A4"/>
          </p15:clr>
        </p15:guide>
        <p15:guide id="4" pos="692">
          <p15:clr>
            <a:srgbClr val="A4A3A4"/>
          </p15:clr>
        </p15:guide>
        <p15:guide id="5" pos="6588">
          <p15:clr>
            <a:srgbClr val="A4A3A4"/>
          </p15:clr>
        </p15:guide>
        <p15:guide id="6" pos="12483">
          <p15:clr>
            <a:srgbClr val="A4A3A4"/>
          </p15:clr>
        </p15:guide>
        <p15:guide id="7" pos="18334">
          <p15:clr>
            <a:srgbClr val="A4A3A4"/>
          </p15:clr>
        </p15:guide>
        <p15:guide id="8" pos="71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08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sten Saller" initials="KS" lastIdx="1" clrIdx="0"/>
  <p:cmAuthor id="1" name="Aneta Kabzeva" initials="AnKa" lastIdx="6" clrIdx="1"/>
  <p:cmAuthor id="2" name="Matthias Hollick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B050"/>
    <a:srgbClr val="FFC000"/>
    <a:srgbClr val="D61111"/>
    <a:srgbClr val="FFFFFF"/>
    <a:srgbClr val="F8BAA6"/>
    <a:srgbClr val="C0C0C0"/>
    <a:srgbClr val="B2B2B2"/>
    <a:srgbClr val="0099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1" autoAdjust="0"/>
    <p:restoredTop sz="95082" autoAdjust="0"/>
  </p:normalViewPr>
  <p:slideViewPr>
    <p:cSldViewPr>
      <p:cViewPr>
        <p:scale>
          <a:sx n="33" d="100"/>
          <a:sy n="33" d="100"/>
        </p:scale>
        <p:origin x="3684" y="-1614"/>
      </p:cViewPr>
      <p:guideLst>
        <p:guide orient="horz" pos="22601"/>
        <p:guide orient="horz" pos="25415"/>
        <p:guide pos="18379"/>
        <p:guide pos="692"/>
        <p:guide pos="6588"/>
        <p:guide pos="12483"/>
        <p:guide pos="18334"/>
        <p:guide pos="717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21" d="100"/>
          <a:sy n="21" d="100"/>
        </p:scale>
        <p:origin x="-3720" y="-126"/>
      </p:cViewPr>
      <p:guideLst>
        <p:guide orient="horz" pos="4522"/>
        <p:guide pos="3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246649" cy="718004"/>
          </a:xfrm>
          <a:prstGeom prst="rect">
            <a:avLst/>
          </a:prstGeom>
        </p:spPr>
        <p:txBody>
          <a:bodyPr vert="horz" lIns="30603" tIns="15302" rIns="30603" bIns="15302" rtlCol="0"/>
          <a:lstStyle>
            <a:lvl1pPr algn="l">
              <a:defRPr sz="4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50905" y="2"/>
            <a:ext cx="4246649" cy="718004"/>
          </a:xfrm>
          <a:prstGeom prst="rect">
            <a:avLst/>
          </a:prstGeom>
        </p:spPr>
        <p:txBody>
          <a:bodyPr vert="horz" lIns="30603" tIns="15302" rIns="30603" bIns="15302" rtlCol="0"/>
          <a:lstStyle>
            <a:lvl1pPr algn="r">
              <a:defRPr sz="400"/>
            </a:lvl1pPr>
          </a:lstStyle>
          <a:p>
            <a:fld id="{9A00CFE2-FDD3-48A0-8BA4-9C7A3E9543B1}" type="datetimeFigureOut">
              <a:rPr lang="de-DE" smtClean="0"/>
              <a:pPr/>
              <a:t>27.05.2026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3635609"/>
            <a:ext cx="4246649" cy="717464"/>
          </a:xfrm>
          <a:prstGeom prst="rect">
            <a:avLst/>
          </a:prstGeom>
        </p:spPr>
        <p:txBody>
          <a:bodyPr vert="horz" lIns="30603" tIns="15302" rIns="30603" bIns="15302" rtlCol="0" anchor="b"/>
          <a:lstStyle>
            <a:lvl1pPr algn="l">
              <a:defRPr sz="400"/>
            </a:lvl1pPr>
          </a:lstStyle>
          <a:p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50905" y="13635609"/>
            <a:ext cx="4246649" cy="717464"/>
          </a:xfrm>
          <a:prstGeom prst="rect">
            <a:avLst/>
          </a:prstGeom>
        </p:spPr>
        <p:txBody>
          <a:bodyPr vert="horz" lIns="30603" tIns="15302" rIns="30603" bIns="15302" rtlCol="0" anchor="b"/>
          <a:lstStyle>
            <a:lvl1pPr algn="r">
              <a:defRPr sz="400"/>
            </a:lvl1pPr>
          </a:lstStyle>
          <a:p>
            <a:fld id="{F59CAC82-69DD-4598-8A25-EF55C93ABD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7002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45083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>
            <a:lvl1pPr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49863" y="2"/>
            <a:ext cx="4247691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>
            <a:lvl1pPr algn="r"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5613" y="1076325"/>
            <a:ext cx="3808412" cy="538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9234" y="6819958"/>
            <a:ext cx="7841170" cy="645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13635611"/>
            <a:ext cx="4245083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b" anchorCtr="0" compatLnSpc="1">
            <a:prstTxWarp prst="textNoShape">
              <a:avLst/>
            </a:prstTxWarp>
          </a:bodyPr>
          <a:lstStyle>
            <a:lvl1pPr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9863" y="13635611"/>
            <a:ext cx="4247691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b" anchorCtr="0" compatLnSpc="1">
            <a:prstTxWarp prst="textNoShape">
              <a:avLst/>
            </a:prstTxWarp>
          </a:bodyPr>
          <a:lstStyle>
            <a:lvl1pPr algn="r" defTabSz="1322996">
              <a:defRPr sz="1700">
                <a:cs typeface="+mn-cs"/>
              </a:defRPr>
            </a:lvl1pPr>
          </a:lstStyle>
          <a:p>
            <a:pPr>
              <a:defRPr/>
            </a:pPr>
            <a:fld id="{5E780477-EF57-2946-9C72-5BF4856CB47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682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87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399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6986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98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633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2759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99886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013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48659" indent="-95638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382553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535575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688594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841617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94636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147657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300678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02668AB-7CEC-8E41-AB32-D9D448AEE20B}" type="slidenum">
              <a:rPr lang="de-DE" sz="1700"/>
              <a:pPr eaLnBrk="1" hangingPunct="1"/>
              <a:t>1</a:t>
            </a:fld>
            <a:endParaRPr lang="de-DE" sz="1700" dirty="0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95613" y="1076325"/>
            <a:ext cx="3808412" cy="53848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615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5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9"/>
          <p:cNvSpPr>
            <a:spLocks noChangeShapeType="1"/>
          </p:cNvSpPr>
          <p:nvPr userDrawn="1"/>
        </p:nvSpPr>
        <p:spPr bwMode="auto">
          <a:xfrm flipV="1">
            <a:off x="1036320" y="1840784"/>
            <a:ext cx="28144554" cy="0"/>
          </a:xfrm>
          <a:prstGeom prst="line">
            <a:avLst/>
          </a:prstGeom>
          <a:noFill/>
          <a:ln w="603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28" name="Line 10"/>
          <p:cNvSpPr>
            <a:spLocks noChangeShapeType="1"/>
          </p:cNvSpPr>
          <p:nvPr userDrawn="1"/>
        </p:nvSpPr>
        <p:spPr bwMode="auto">
          <a:xfrm flipV="1">
            <a:off x="1036320" y="6135198"/>
            <a:ext cx="28143888" cy="17986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29" name="Line 11"/>
          <p:cNvSpPr>
            <a:spLocks noChangeShapeType="1"/>
          </p:cNvSpPr>
          <p:nvPr userDrawn="1"/>
        </p:nvSpPr>
        <p:spPr bwMode="auto">
          <a:xfrm flipV="1">
            <a:off x="1026926" y="40920018"/>
            <a:ext cx="28149453" cy="0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31" name="Line 27"/>
          <p:cNvSpPr>
            <a:spLocks noChangeShapeType="1"/>
          </p:cNvSpPr>
          <p:nvPr userDrawn="1"/>
        </p:nvSpPr>
        <p:spPr bwMode="auto">
          <a:xfrm flipV="1">
            <a:off x="1043940" y="7724559"/>
            <a:ext cx="28136934" cy="0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graphicFrame>
        <p:nvGraphicFramePr>
          <p:cNvPr id="14" name="Objek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779645151"/>
              </p:ext>
            </p:extLst>
          </p:nvPr>
        </p:nvGraphicFramePr>
        <p:xfrm>
          <a:off x="22735047" y="2540074"/>
          <a:ext cx="6268371" cy="28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091521" imgH="3471054" progId="Visio.Drawing.11">
                  <p:embed/>
                </p:oleObj>
              </mc:Choice>
              <mc:Fallback>
                <p:oleObj name="Visio" r:id="rId3" imgW="8091521" imgH="3471054" progId="Visio.Drawing.11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5047" y="2540074"/>
                        <a:ext cx="6268371" cy="28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 userDrawn="1"/>
        </p:nvSpPr>
        <p:spPr bwMode="auto">
          <a:xfrm>
            <a:off x="1026926" y="1079778"/>
            <a:ext cx="28153948" cy="5769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lIns="91426" tIns="45713" rIns="91426" bIns="45713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992A1-160B-783B-3B48-B5F2D41DDB91}"/>
              </a:ext>
            </a:extLst>
          </p:cNvPr>
          <p:cNvSpPr txBox="1"/>
          <p:nvPr userDrawn="1"/>
        </p:nvSpPr>
        <p:spPr>
          <a:xfrm>
            <a:off x="24383364" y="41104097"/>
            <a:ext cx="4793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Communication Networks Lab (KOM)</a:t>
            </a:r>
          </a:p>
          <a:p>
            <a:r>
              <a:rPr lang="de-DE" sz="2000" dirty="0"/>
              <a:t>Technical University </a:t>
            </a:r>
            <a:r>
              <a:rPr lang="de-DE" sz="2000" dirty="0" err="1"/>
              <a:t>of</a:t>
            </a:r>
            <a:r>
              <a:rPr lang="de-DE" sz="2000" dirty="0"/>
              <a:t> Darmstadt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127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6pPr>
      <a:lvl7pPr marL="914253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7pPr>
      <a:lvl8pPr marL="1371380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8pPr>
      <a:lvl9pPr marL="1828506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9pPr>
    </p:titleStyle>
    <p:bodyStyle>
      <a:lvl1pPr marL="1565238" indent="-1565238" algn="l" defTabSz="4174715" rtl="0" eaLnBrk="0" fontAlgn="base" hangingPunct="0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393219" indent="-1304739" algn="l" defTabSz="4174715" rtl="0" eaLnBrk="0" fontAlgn="base" hangingPunct="0">
        <a:spcBef>
          <a:spcPct val="20000"/>
        </a:spcBef>
        <a:spcAft>
          <a:spcPct val="0"/>
        </a:spcAft>
        <a:buChar char="–"/>
        <a:defRPr sz="12700">
          <a:solidFill>
            <a:schemeClr val="tx1"/>
          </a:solidFill>
          <a:latin typeface="+mn-lt"/>
          <a:ea typeface="ＭＳ Ｐゴシック" charset="0"/>
        </a:defRPr>
      </a:lvl2pPr>
      <a:lvl3pPr marL="5218955" indent="-1044241" algn="l" defTabSz="4174715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ea typeface="ＭＳ Ｐゴシック" charset="0"/>
        </a:defRPr>
      </a:lvl3pPr>
      <a:lvl4pPr marL="7307435" indent="-1044241" algn="l" defTabSz="4174715" rtl="0" eaLnBrk="0" fontAlgn="base" hangingPunct="0">
        <a:spcBef>
          <a:spcPct val="20000"/>
        </a:spcBef>
        <a:spcAft>
          <a:spcPct val="0"/>
        </a:spcAft>
        <a:buChar char="–"/>
        <a:defRPr sz="9100">
          <a:solidFill>
            <a:schemeClr val="tx1"/>
          </a:solidFill>
          <a:latin typeface="+mn-lt"/>
          <a:ea typeface="ＭＳ Ｐゴシック" charset="0"/>
        </a:defRPr>
      </a:lvl4pPr>
      <a:lvl5pPr marL="9393670" indent="-1041994" algn="l" defTabSz="4174715" rtl="0" eaLnBrk="0" fontAlgn="base" hangingPunct="0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ea typeface="ＭＳ Ｐゴシック" charset="0"/>
        </a:defRPr>
      </a:lvl5pPr>
      <a:lvl6pPr marL="9852030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6pPr>
      <a:lvl7pPr marL="10309156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7pPr>
      <a:lvl8pPr marL="10766283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8pPr>
      <a:lvl9pPr marL="11223410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6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9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6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1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18" Type="http://schemas.openxmlformats.org/officeDocument/2006/relationships/hyperlink" Target="https://x.com/elonmusk/status/1357244295091208193" TargetMode="External"/><Relationship Id="rId3" Type="http://schemas.openxmlformats.org/officeDocument/2006/relationships/hyperlink" Target="https://huggingface.co/datasets/StephanAkkerman/financial-tweets" TargetMode="External"/><Relationship Id="rId21" Type="http://schemas.openxmlformats.org/officeDocument/2006/relationships/hyperlink" Target="https://x.com/elonmusk/status/1361094185412100096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hyperlink" Target="https://x.com/elonmusk/status/1357236825589432322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x.com/elonmusk/status/1357241340313141249" TargetMode="External"/><Relationship Id="rId20" Type="http://schemas.openxmlformats.org/officeDocument/2006/relationships/hyperlink" Target="https://x.com/elonmusk/status/1359519541219500033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elonmusk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www.kaggle.com/code/johnsmith44/musk-doge-tweets-and-effect-on-price-feb-2021" TargetMode="External"/><Relationship Id="rId15" Type="http://schemas.openxmlformats.org/officeDocument/2006/relationships/hyperlink" Target="https://x.com/elonmusk/status/1357231313376456708" TargetMode="External"/><Relationship Id="rId23" Type="http://schemas.openxmlformats.org/officeDocument/2006/relationships/image" Target="../media/image11.png"/><Relationship Id="rId10" Type="http://schemas.openxmlformats.org/officeDocument/2006/relationships/image" Target="../media/image5.png"/><Relationship Id="rId19" Type="http://schemas.openxmlformats.org/officeDocument/2006/relationships/hyperlink" Target="https://x.com/elonmusk/status/1358542364948668418" TargetMode="External"/><Relationship Id="rId4" Type="http://schemas.openxmlformats.org/officeDocument/2006/relationships/hyperlink" Target="https://data.mendeley.com/datasets/x7yvshrnxy/1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958"/>
          <p:cNvSpPr>
            <a:spLocks noChangeArrowheads="1"/>
          </p:cNvSpPr>
          <p:nvPr/>
        </p:nvSpPr>
        <p:spPr bwMode="auto">
          <a:xfrm>
            <a:off x="1096044" y="8156379"/>
            <a:ext cx="28115576" cy="3816424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Market </a:t>
            </a:r>
            <a:r>
              <a:rPr lang="de-DE" sz="3600" b="1" dirty="0" err="1"/>
              <a:t>Vulnerability</a:t>
            </a:r>
            <a:r>
              <a:rPr lang="de-DE" sz="3600" b="1" dirty="0"/>
              <a:t>: </a:t>
            </a:r>
            <a:r>
              <a:rPr lang="en-US" sz="3600" dirty="0"/>
              <a:t>While cryptocurrencies are popular investments, the markets are highly unpredictable and erratic.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 err="1"/>
              <a:t>Social</a:t>
            </a:r>
            <a:r>
              <a:rPr lang="de-DE" sz="3600" b="1" dirty="0"/>
              <a:t> Media Impact: </a:t>
            </a:r>
            <a:r>
              <a:rPr lang="en-US" sz="3600" dirty="0"/>
              <a:t>Public figures and influencers possess considerable power over market trends, </a:t>
            </a:r>
          </a:p>
          <a:p>
            <a:r>
              <a:rPr lang="en-US" sz="3600" dirty="0"/>
              <a:t>					   where a single social media post can trigger financial shifts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Project </a:t>
            </a:r>
            <a:r>
              <a:rPr lang="de-DE" sz="3600" b="1" dirty="0" err="1"/>
              <a:t>Objective</a:t>
            </a:r>
            <a:r>
              <a:rPr lang="de-DE" sz="3600" b="1" dirty="0"/>
              <a:t>: </a:t>
            </a:r>
            <a:r>
              <a:rPr lang="en-US" sz="3600" dirty="0"/>
              <a:t>The goal is to apply Large Language Models (LLMs) to filter influential posts </a:t>
            </a:r>
          </a:p>
          <a:p>
            <a:r>
              <a:rPr lang="en-US" sz="3600" dirty="0"/>
              <a:t>				      and evaluate their exact impact on the market.</a:t>
            </a:r>
            <a:endParaRPr lang="de-DE" sz="3600" b="1" dirty="0"/>
          </a:p>
          <a:p>
            <a:endParaRPr lang="de-DE" sz="3600" dirty="0"/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3074" name="Text Box 1449"/>
          <p:cNvSpPr txBox="1">
            <a:spLocks noChangeArrowheads="1"/>
          </p:cNvSpPr>
          <p:nvPr/>
        </p:nvSpPr>
        <p:spPr bwMode="auto">
          <a:xfrm>
            <a:off x="1056442" y="6228526"/>
            <a:ext cx="28077545" cy="152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 anchor="ctr"/>
          <a:lstStyle>
            <a:lvl1pPr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500" b="1" dirty="0" err="1"/>
              <a:t>Yeseok</a:t>
            </a:r>
            <a:r>
              <a:rPr lang="en-US" sz="4500" b="1" dirty="0"/>
              <a:t> Bae, Emircan Haslak</a:t>
            </a:r>
            <a:br>
              <a:rPr lang="en-US" sz="4500" dirty="0"/>
            </a:br>
            <a:r>
              <a:rPr lang="en-US" sz="4500" dirty="0"/>
              <a:t>Communication Networks Lab — Lab/Project Summer 2026, Technical University of Darmstadt</a:t>
            </a:r>
            <a:endParaRPr lang="en-US" sz="4500" i="1" dirty="0"/>
          </a:p>
        </p:txBody>
      </p:sp>
      <p:sp>
        <p:nvSpPr>
          <p:cNvPr id="503" name="Text Box 1959"/>
          <p:cNvSpPr txBox="1">
            <a:spLocks noChangeArrowheads="1"/>
          </p:cNvSpPr>
          <p:nvPr/>
        </p:nvSpPr>
        <p:spPr bwMode="auto">
          <a:xfrm>
            <a:off x="1063593" y="8139747"/>
            <a:ext cx="3357899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64" name="Text Box 1443"/>
          <p:cNvSpPr txBox="1">
            <a:spLocks noChangeArrowheads="1"/>
          </p:cNvSpPr>
          <p:nvPr/>
        </p:nvSpPr>
        <p:spPr bwMode="auto">
          <a:xfrm>
            <a:off x="1135604" y="2046455"/>
            <a:ext cx="21744289" cy="38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 anchor="ctr"/>
          <a:lstStyle>
            <a:lvl1pPr marL="65088" indent="-65088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6500" b="1" kern="0" dirty="0">
                <a:latin typeface="Arial"/>
              </a:rPr>
              <a:t>LLM-Based Crypto Market Signal Detection from X</a:t>
            </a:r>
            <a:endParaRPr lang="en-US" sz="6500" dirty="0"/>
          </a:p>
        </p:txBody>
      </p:sp>
      <p:grpSp>
        <p:nvGrpSpPr>
          <p:cNvPr id="458" name="Gruppieren 457">
            <a:extLst>
              <a:ext uri="{FF2B5EF4-FFF2-40B4-BE49-F238E27FC236}">
                <a16:creationId xmlns:a16="http://schemas.microsoft.com/office/drawing/2014/main" id="{E8D91748-22AD-4DBF-B863-CDAC8CAC3592}"/>
              </a:ext>
            </a:extLst>
          </p:cNvPr>
          <p:cNvGrpSpPr/>
          <p:nvPr/>
        </p:nvGrpSpPr>
        <p:grpSpPr>
          <a:xfrm>
            <a:off x="1154921" y="40850744"/>
            <a:ext cx="22458268" cy="1735897"/>
            <a:chOff x="1125312" y="39022280"/>
            <a:chExt cx="18602771" cy="1704618"/>
          </a:xfrm>
        </p:grpSpPr>
        <p:sp>
          <p:nvSpPr>
            <p:cNvPr id="6" name="Textfeld 5"/>
            <p:cNvSpPr txBox="1"/>
            <p:nvPr/>
          </p:nvSpPr>
          <p:spPr>
            <a:xfrm>
              <a:off x="1227705" y="39472927"/>
              <a:ext cx="18500378" cy="1178700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1428750" indent="-1428750"/>
              <a:r>
                <a:rPr lang="de-DE" sz="1800" b="1" dirty="0">
                  <a:solidFill>
                    <a:schemeClr val="bg1">
                      <a:lumMod val="50000"/>
                    </a:schemeClr>
                  </a:solidFill>
                </a:rPr>
                <a:t>[ABC20] </a:t>
              </a:r>
              <a:r>
                <a:rPr lang="de-DE" sz="1800" b="1" dirty="0">
                  <a:solidFill>
                    <a:schemeClr val="bg1">
                      <a:lumMod val="65000"/>
                    </a:schemeClr>
                  </a:solidFill>
                </a:rPr>
                <a:t>	</a:t>
              </a:r>
              <a:r>
                <a:rPr lang="de-DE" sz="1800" dirty="0"/>
                <a:t>Stephan Akkerman. "Financial Tweets Dataset." </a:t>
              </a:r>
              <a:r>
                <a:rPr lang="de-DE" sz="1800" dirty="0" err="1"/>
                <a:t>Hugging</a:t>
              </a:r>
              <a:r>
                <a:rPr lang="de-DE" sz="1800" dirty="0"/>
                <a:t> Face, 2023. </a:t>
              </a:r>
              <a:r>
                <a:rPr lang="de-DE" sz="1800" dirty="0">
                  <a:hlinkClick r:id="rId3"/>
                </a:rPr>
                <a:t>https://huggingface.co/datasets/StephanAkkerman/financial-tweets</a:t>
              </a:r>
              <a:endParaRPr lang="en-US" sz="1800" dirty="0"/>
            </a:p>
            <a:p>
              <a:pPr marL="1428750" indent="-1428750"/>
              <a:r>
                <a:rPr lang="en-US" sz="1800" b="1" dirty="0">
                  <a:solidFill>
                    <a:schemeClr val="bg1">
                      <a:lumMod val="50000"/>
                    </a:schemeClr>
                  </a:solidFill>
                </a:rPr>
                <a:t>[ABC21] 	</a:t>
              </a:r>
              <a:r>
                <a:rPr lang="de-DE" sz="1800" dirty="0"/>
                <a:t>Mendeley Data. "</a:t>
              </a:r>
              <a:r>
                <a:rPr lang="de-DE" sz="1800" dirty="0" err="1"/>
                <a:t>Cryptocurrency</a:t>
              </a:r>
              <a:r>
                <a:rPr lang="de-DE" sz="1800" dirty="0"/>
                <a:t> Sentiment Analysis Dataset." Mendeley Data, 2020. </a:t>
              </a:r>
              <a:r>
                <a:rPr lang="de-DE" sz="1800" dirty="0">
                  <a:hlinkClick r:id="rId4"/>
                </a:rPr>
                <a:t>https://data.mendeley.com/datasets/x7yvshrnxy/1</a:t>
              </a:r>
              <a:endParaRPr lang="de-DE" sz="1800" dirty="0"/>
            </a:p>
            <a:p>
              <a:pPr marL="1428750" indent="-1428750"/>
              <a:r>
                <a:rPr lang="en-US" sz="1800" b="1" dirty="0">
                  <a:solidFill>
                    <a:schemeClr val="bg1">
                      <a:lumMod val="50000"/>
                    </a:schemeClr>
                  </a:solidFill>
                </a:rPr>
                <a:t>[ABC22]	</a:t>
              </a:r>
              <a:r>
                <a:rPr lang="en-US" sz="1800" dirty="0"/>
                <a:t>Jean (</a:t>
              </a:r>
              <a:r>
                <a:rPr lang="de-DE" sz="1800" dirty="0"/>
                <a:t>johnsmith44)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. “</a:t>
              </a:r>
              <a:r>
                <a:rPr lang="en-US" sz="1800" dirty="0"/>
                <a:t>Musk Doge tweets and effect on price, Feb 2021” 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  <a:hlinkClick r:id="rId5"/>
                </a:rPr>
                <a:t>https://www.kaggle.com/code/johnsmith44/musk-doge-tweets-and-effect-on-price-feb-2021</a:t>
              </a:r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endParaRPr lang="en-US" sz="1800" dirty="0"/>
            </a:p>
            <a:p>
              <a:pPr marL="1428750" indent="-1428750"/>
              <a:r>
                <a:rPr lang="en-US" sz="1800" b="1" dirty="0">
                  <a:solidFill>
                    <a:schemeClr val="bg1">
                      <a:lumMod val="50000"/>
                    </a:schemeClr>
                  </a:solidFill>
                </a:rPr>
                <a:t>[ABC23]	</a:t>
              </a:r>
              <a:r>
                <a:rPr lang="en-US" sz="1800" dirty="0"/>
                <a:t>Elon Musk. “Twitter/X Tweets from Feb 2021” </a:t>
              </a:r>
              <a:r>
                <a:rPr lang="en-US" sz="1800" dirty="0">
                  <a:hlinkClick r:id="rId6"/>
                </a:rPr>
                <a:t>https://x.com/elonmusk</a:t>
              </a:r>
              <a:r>
                <a:rPr lang="en-US" sz="1800" dirty="0"/>
                <a:t> 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8" name="Rectangle 1958"/>
            <p:cNvSpPr>
              <a:spLocks noChangeArrowheads="1"/>
            </p:cNvSpPr>
            <p:nvPr/>
          </p:nvSpPr>
          <p:spPr bwMode="auto">
            <a:xfrm>
              <a:off x="1125312" y="39022280"/>
              <a:ext cx="18436808" cy="1704618"/>
            </a:xfrm>
            <a:prstGeom prst="rect">
              <a:avLst/>
            </a:prstGeom>
            <a:noFill/>
            <a:ln w="127000">
              <a:solidFill>
                <a:srgbClr val="DDDDD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360000" tIns="1008000" rIns="91426" bIns="144000" numCol="1" anchor="t"/>
            <a:lstStyle/>
            <a:p>
              <a:endParaRPr lang="en-US" sz="3600" dirty="0"/>
            </a:p>
            <a:p>
              <a:endParaRPr lang="en-US" sz="3600" dirty="0"/>
            </a:p>
          </p:txBody>
        </p:sp>
        <p:sp>
          <p:nvSpPr>
            <p:cNvPr id="111" name="Text Box 1959"/>
            <p:cNvSpPr txBox="1">
              <a:spLocks noChangeArrowheads="1"/>
            </p:cNvSpPr>
            <p:nvPr/>
          </p:nvSpPr>
          <p:spPr bwMode="auto">
            <a:xfrm>
              <a:off x="1125312" y="39079853"/>
              <a:ext cx="1680970" cy="449748"/>
            </a:xfrm>
            <a:prstGeom prst="rect">
              <a:avLst/>
            </a:prstGeom>
            <a:solidFill>
              <a:srgbClr val="DDDDDD"/>
            </a:solidFill>
            <a:ln w="25400">
              <a:solidFill>
                <a:srgbClr val="DDDDDD"/>
              </a:solidFill>
              <a:miter lim="800000"/>
              <a:headEnd/>
              <a:tailEnd/>
            </a:ln>
          </p:spPr>
          <p:txBody>
            <a:bodyPr wrap="square" lIns="179971" tIns="43906" rIns="287953" bIns="43906">
              <a:spAutoFit/>
            </a:bodyPr>
            <a:lstStyle>
              <a:lvl1pPr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de-DE" sz="2400" b="1" dirty="0"/>
                <a:t>Resources</a:t>
              </a:r>
              <a:endParaRPr lang="en-US" sz="2400" b="1" dirty="0"/>
            </a:p>
          </p:txBody>
        </p:sp>
      </p:grpSp>
      <p:sp>
        <p:nvSpPr>
          <p:cNvPr id="219" name="Rectangle 1958">
            <a:extLst>
              <a:ext uri="{FF2B5EF4-FFF2-40B4-BE49-F238E27FC236}">
                <a16:creationId xmlns:a16="http://schemas.microsoft.com/office/drawing/2014/main" id="{8847867A-D2B2-45E0-AD8B-00C5696D5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044" y="12173890"/>
            <a:ext cx="28115576" cy="4673290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Data Source: </a:t>
            </a:r>
            <a:r>
              <a:rPr lang="en-US" sz="3600" dirty="0"/>
              <a:t>Tweets are sourced from public datasets and analyzed by Llama 3.1 for sentiment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AI Analysis (</a:t>
            </a:r>
            <a:r>
              <a:rPr lang="de-DE" sz="3600" b="1" dirty="0" err="1"/>
              <a:t>Llama</a:t>
            </a:r>
            <a:r>
              <a:rPr lang="de-DE" sz="3600" b="1" dirty="0"/>
              <a:t> 3.1): </a:t>
            </a:r>
            <a:r>
              <a:rPr lang="en-US" sz="3600" dirty="0"/>
              <a:t>We send the text of each tweet to an AI model that reads it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 err="1"/>
              <a:t>Result</a:t>
            </a:r>
            <a:r>
              <a:rPr lang="de-DE" sz="3600" b="1" dirty="0"/>
              <a:t>: </a:t>
            </a:r>
            <a:r>
              <a:rPr lang="de-DE" sz="3600" dirty="0"/>
              <a:t>The AI </a:t>
            </a:r>
            <a:r>
              <a:rPr lang="de-DE" sz="3600" dirty="0" err="1"/>
              <a:t>classifies</a:t>
            </a:r>
            <a:r>
              <a:rPr lang="de-DE" sz="3600" dirty="0"/>
              <a:t>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sentiment</a:t>
            </a:r>
            <a:r>
              <a:rPr lang="de-DE" sz="3600" dirty="0"/>
              <a:t>: </a:t>
            </a:r>
            <a:r>
              <a:rPr lang="en-US" sz="3600" dirty="0"/>
              <a:t>Is it positive ("BUY") , neutral (“NEUTRAL”) or negative ("SELL")?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3600" b="1" dirty="0"/>
              <a:t>Detection: </a:t>
            </a:r>
            <a:r>
              <a:rPr lang="en-US" sz="3600" dirty="0"/>
              <a:t>Identifying posts that could potentially trigger market movements (e.g. Like/Retweet counts)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3600" b="1" dirty="0"/>
              <a:t>Confirmation: </a:t>
            </a:r>
            <a:r>
              <a:rPr lang="en-US" sz="3600" dirty="0"/>
              <a:t>Evaluating historical price data to verify whether a specific post actually caused a measurable impact </a:t>
            </a:r>
          </a:p>
          <a:p>
            <a:r>
              <a:rPr lang="en-US" sz="3600" dirty="0"/>
              <a:t>                           on the cryptocurrency market.</a:t>
            </a:r>
            <a:endParaRPr lang="de-DE" sz="3600" dirty="0"/>
          </a:p>
          <a:p>
            <a:endParaRPr lang="de-DE" sz="3600" b="1" dirty="0">
              <a:sym typeface="Wingdings" panose="05000000000000000000" pitchFamily="2" charset="2"/>
            </a:endParaRPr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39" name="Text Box 1959">
            <a:extLst>
              <a:ext uri="{FF2B5EF4-FFF2-40B4-BE49-F238E27FC236}">
                <a16:creationId xmlns:a16="http://schemas.microsoft.com/office/drawing/2014/main" id="{980F1CD9-E55A-4005-AB6D-3F8BD4F88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921" y="12173890"/>
            <a:ext cx="4896782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7" name="Rectangle 1958">
            <a:extLst>
              <a:ext uri="{FF2B5EF4-FFF2-40B4-BE49-F238E27FC236}">
                <a16:creationId xmlns:a16="http://schemas.microsoft.com/office/drawing/2014/main" id="{8FAD64B4-9324-BD90-9FD2-CBD0A793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93" y="26770438"/>
            <a:ext cx="28803199" cy="13789539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endParaRPr lang="de-DE" sz="3600" b="1" dirty="0"/>
          </a:p>
          <a:p>
            <a:endParaRPr lang="de-DE" sz="3600" b="1" dirty="0">
              <a:sym typeface="Wingdings" panose="05000000000000000000" pitchFamily="2" charset="2"/>
            </a:endParaRPr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6DA2EE9-BD37-8399-43BE-65B293625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16795" y="26920436"/>
            <a:ext cx="13943806" cy="872757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AA49C8A-8708-B273-9940-7D77A0AC18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63" y="27749051"/>
            <a:ext cx="7911275" cy="238403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03463A4-4143-2464-B9C3-2B73A7A4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3417" y="33785463"/>
            <a:ext cx="5142532" cy="566373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15637B9-4B99-F8D9-8270-23D4124E4B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311" y="30541833"/>
            <a:ext cx="8055263" cy="280713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A429371-8752-73E6-EC08-65724A8952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357" y="34076230"/>
            <a:ext cx="7989540" cy="280713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8BE1D34-0C76-88FC-C95D-F6336D36E7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092" y="37309634"/>
            <a:ext cx="7382629" cy="257273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FA3AEEE-D913-97EC-2095-83B495F2D4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2571" y="27749051"/>
            <a:ext cx="6509843" cy="2352296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11E49AE9-A4D0-FED1-1FDE-E5C816AD68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47302" y="30406098"/>
            <a:ext cx="6210811" cy="2953025"/>
          </a:xfrm>
          <a:prstGeom prst="rect">
            <a:avLst/>
          </a:prstGeom>
        </p:spPr>
      </p:pic>
      <p:sp>
        <p:nvSpPr>
          <p:cNvPr id="30" name="Text Box 1959">
            <a:extLst>
              <a:ext uri="{FF2B5EF4-FFF2-40B4-BE49-F238E27FC236}">
                <a16:creationId xmlns:a16="http://schemas.microsoft.com/office/drawing/2014/main" id="{EF9ED024-49AC-4003-A790-33111555B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93" y="26829110"/>
            <a:ext cx="10325575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Elon Musk’s Influence on Dogecoin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950A94A-DB40-5885-280B-E38C1B825FF8}"/>
              </a:ext>
            </a:extLst>
          </p:cNvPr>
          <p:cNvSpPr txBox="1"/>
          <p:nvPr/>
        </p:nvSpPr>
        <p:spPr>
          <a:xfrm>
            <a:off x="16217726" y="35678970"/>
            <a:ext cx="12457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5"/>
              </a:rPr>
              <a:t>https://www.kaggle.com/code/johnsmith44/musk-doge-tweets-and-effect-on-price-feb-2021</a:t>
            </a:r>
            <a:endParaRPr lang="de-DE" sz="18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3535083-8D81-0ED5-04DC-48E135E84180}"/>
              </a:ext>
            </a:extLst>
          </p:cNvPr>
          <p:cNvSpPr txBox="1"/>
          <p:nvPr/>
        </p:nvSpPr>
        <p:spPr>
          <a:xfrm>
            <a:off x="653884" y="30072033"/>
            <a:ext cx="610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15"/>
              </a:rPr>
              <a:t>https://x.com/elonmusk/status/1357231313376456708</a:t>
            </a:r>
            <a:endParaRPr lang="de-DE" sz="18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CDC4808-3E2B-3A2A-BFC2-A4F0D7634893}"/>
              </a:ext>
            </a:extLst>
          </p:cNvPr>
          <p:cNvSpPr txBox="1"/>
          <p:nvPr/>
        </p:nvSpPr>
        <p:spPr>
          <a:xfrm>
            <a:off x="677274" y="33301493"/>
            <a:ext cx="636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16"/>
              </a:rPr>
              <a:t>https://x.com/elonmusk/status/1357241340313141249</a:t>
            </a:r>
            <a:r>
              <a:rPr lang="de-DE" sz="1800" dirty="0"/>
              <a:t> 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3C06DB1A-1B67-58A3-FB6C-E54DDE43BF96}"/>
              </a:ext>
            </a:extLst>
          </p:cNvPr>
          <p:cNvSpPr txBox="1"/>
          <p:nvPr/>
        </p:nvSpPr>
        <p:spPr>
          <a:xfrm>
            <a:off x="9555667" y="39495364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17"/>
              </a:rPr>
              <a:t>https://x.com/elonmusk/status/1357236825589432322</a:t>
            </a:r>
            <a:r>
              <a:rPr lang="de-DE" sz="1800" dirty="0"/>
              <a:t> 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F13FF65-9539-494D-166D-DE2D7E59F7AF}"/>
              </a:ext>
            </a:extLst>
          </p:cNvPr>
          <p:cNvSpPr txBox="1"/>
          <p:nvPr/>
        </p:nvSpPr>
        <p:spPr>
          <a:xfrm>
            <a:off x="731763" y="36816691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18"/>
              </a:rPr>
              <a:t>https://x.com/elonmusk/status/1357244295091208193</a:t>
            </a:r>
            <a:r>
              <a:rPr lang="de-DE" sz="1800" dirty="0"/>
              <a:t> 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9613BC0-A5CA-9FD0-F251-1ABE8ED84899}"/>
              </a:ext>
            </a:extLst>
          </p:cNvPr>
          <p:cNvSpPr txBox="1"/>
          <p:nvPr/>
        </p:nvSpPr>
        <p:spPr>
          <a:xfrm>
            <a:off x="805092" y="39882368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19"/>
              </a:rPr>
              <a:t>https://x.com/elonmusk/status/1358542364948668418</a:t>
            </a:r>
            <a:r>
              <a:rPr lang="de-DE" sz="1800" dirty="0"/>
              <a:t> 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DBED400-892A-2CDC-8BA8-BB77E35492A2}"/>
              </a:ext>
            </a:extLst>
          </p:cNvPr>
          <p:cNvSpPr txBox="1"/>
          <p:nvPr/>
        </p:nvSpPr>
        <p:spPr>
          <a:xfrm>
            <a:off x="8918808" y="30028415"/>
            <a:ext cx="596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20"/>
              </a:rPr>
              <a:t>https://x.com/elonmusk/status/1359519541219500033</a:t>
            </a:r>
            <a:r>
              <a:rPr lang="de-DE" sz="1800" dirty="0"/>
              <a:t> 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745E5E5-61FF-2268-C875-70FD1EE30744}"/>
              </a:ext>
            </a:extLst>
          </p:cNvPr>
          <p:cNvSpPr txBox="1"/>
          <p:nvPr/>
        </p:nvSpPr>
        <p:spPr>
          <a:xfrm>
            <a:off x="8885173" y="33339479"/>
            <a:ext cx="643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hlinkClick r:id="rId21"/>
              </a:rPr>
              <a:t>https://x.com/elonmusk/status/1361094185412100096</a:t>
            </a:r>
            <a:r>
              <a:rPr lang="de-DE" sz="1800" dirty="0"/>
              <a:t> </a:t>
            </a: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BFB4660A-7D72-E967-AF42-55A08EAF4F3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8032" y="17179174"/>
            <a:ext cx="12639374" cy="947953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37240A6A-8215-4527-29D0-B5EFE00FC65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401421" y="17099403"/>
            <a:ext cx="15810199" cy="9486119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C4ACBBAD-752B-8BE0-0D46-EAFC60C5AEEF}"/>
              </a:ext>
            </a:extLst>
          </p:cNvPr>
          <p:cNvSpPr txBox="1"/>
          <p:nvPr/>
        </p:nvSpPr>
        <p:spPr>
          <a:xfrm>
            <a:off x="16217726" y="36527530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Correlation: </a:t>
            </a:r>
            <a:r>
              <a:rPr lang="en-US" sz="3600" dirty="0"/>
              <a:t>Significant price changes often happened right after popular tweets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324765708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_LC_2008_neues_Layout">
  <a:themeElements>
    <a:clrScheme name="Poster_LC_2008_neues_Layo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oster_LC_2008_neues_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oster_LC_2008_neues_Layo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Poster_LC_2008_neues_Layout</Template>
  <TotalTime>0</TotalTime>
  <Words>436</Words>
  <Application>Microsoft Office PowerPoint</Application>
  <PresentationFormat>Benutzerdefiniert</PresentationFormat>
  <Paragraphs>41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Wingdings</vt:lpstr>
      <vt:lpstr>Poster_LC_2008_neues_Layout</vt:lpstr>
      <vt:lpstr>Visio</vt:lpstr>
      <vt:lpstr>PowerPoint-Präsentation</vt:lpstr>
    </vt:vector>
  </TitlesOfParts>
  <Company>TUD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</dc:title>
  <dc:creator>christian damm</dc:creator>
  <cp:lastModifiedBy>Emircan Haslak</cp:lastModifiedBy>
  <cp:revision>1084</cp:revision>
  <cp:lastPrinted>2022-02-23T14:37:04Z</cp:lastPrinted>
  <dcterms:created xsi:type="dcterms:W3CDTF">2008-05-08T14:55:42Z</dcterms:created>
  <dcterms:modified xsi:type="dcterms:W3CDTF">2026-05-27T13:43:09Z</dcterms:modified>
</cp:coreProperties>
</file>